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  <p:sldMasterId id="2147483662" r:id="rId3"/>
  </p:sldMasterIdLst>
  <p:handoutMasterIdLst>
    <p:handoutMasterId r:id="rId9"/>
  </p:handoutMasterIdLst>
  <p:sldIdLst>
    <p:sldId id="256" r:id="rId4"/>
    <p:sldId id="257" r:id="rId5"/>
    <p:sldId id="260" r:id="rId6"/>
    <p:sldId id="258" r:id="rId7"/>
    <p:sldId id="259" r:id="rId8"/>
  </p:sldIdLst>
  <p:sldSz cx="6858000" cy="9144000" type="screen4x3"/>
  <p:notesSz cx="6669088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964D743-772E-4BD7-8514-ABA6EC1CBD20}">
          <p14:sldIdLst>
            <p14:sldId id="256"/>
            <p14:sldId id="257"/>
            <p14:sldId id="260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299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98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2C54B-2AA2-4081-9CE3-E1CFF7CC4AC9}" type="datetimeFigureOut">
              <a:rPr lang="pt-BR" smtClean="0"/>
              <a:t>05/07/2021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778250" y="9377363"/>
            <a:ext cx="288925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BC37C-01E5-425A-AEA1-9CB159DFF0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958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 userDrawn="1"/>
        </p:nvSpPr>
        <p:spPr>
          <a:xfrm>
            <a:off x="0" y="999801"/>
            <a:ext cx="6866256" cy="3143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200" b="1" dirty="0" smtClean="0">
                <a:effectLst/>
                <a:latin typeface="Arial"/>
                <a:ea typeface="Calibri"/>
                <a:cs typeface="Times New Roman"/>
              </a:rPr>
              <a:t>RELATÓRIO TÉCNICO – ANÁLISE</a:t>
            </a:r>
            <a:r>
              <a:rPr lang="pt-BR" sz="1200" b="1" baseline="0" dirty="0" smtClean="0">
                <a:effectLst/>
                <a:latin typeface="Arial"/>
                <a:ea typeface="Calibri"/>
                <a:cs typeface="Times New Roman"/>
              </a:rPr>
              <a:t> DE “PLACAS” PARA GARANTIA LCAC E RAC 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1" name="Retângulo de cantos arredondados 10"/>
          <p:cNvSpPr/>
          <p:nvPr userDrawn="1"/>
        </p:nvSpPr>
        <p:spPr>
          <a:xfrm>
            <a:off x="0" y="1362386"/>
            <a:ext cx="3341053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CANAL: 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ASD /</a:t>
            </a:r>
            <a:r>
              <a:rPr lang="pt-BR" sz="1000" b="1" baseline="0" dirty="0" smtClean="0">
                <a:effectLst/>
                <a:latin typeface="Arial"/>
                <a:ea typeface="Calibri"/>
                <a:cs typeface="Times New Roman"/>
              </a:rPr>
              <a:t> ASI – DISTRIBUIDOR / REVENDA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2" name="Retângulo de cantos arredondados 11"/>
          <p:cNvSpPr/>
          <p:nvPr userDrawn="1"/>
        </p:nvSpPr>
        <p:spPr>
          <a:xfrm>
            <a:off x="3385503" y="1362386"/>
            <a:ext cx="3472497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DATA APLICADA: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05/07/2021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30" name="Retângulo 29"/>
          <p:cNvSpPr/>
          <p:nvPr userDrawn="1"/>
        </p:nvSpPr>
        <p:spPr>
          <a:xfrm>
            <a:off x="217714" y="1778769"/>
            <a:ext cx="6451646" cy="888232"/>
          </a:xfrm>
          <a:prstGeom prst="rect">
            <a:avLst/>
          </a:prstGeom>
          <a:solidFill>
            <a:srgbClr val="FFFF00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CaixaDeTexto 30"/>
          <p:cNvSpPr txBox="1"/>
          <p:nvPr userDrawn="1"/>
        </p:nvSpPr>
        <p:spPr>
          <a:xfrm>
            <a:off x="291859" y="1867668"/>
            <a:ext cx="6305494" cy="738664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tabLst>
                <a:tab pos="0" algn="l"/>
              </a:tabLst>
            </a:pP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	</a:t>
            </a:r>
            <a:b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</a:b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Pa</a:t>
            </a:r>
            <a:r>
              <a:rPr lang="pt-BR" sz="1400" b="1" baseline="0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ra a solicitação da Garantia é obrigatório o preenchimento completo deste relatório . O mesmo auxilia a análise do problema.</a:t>
            </a:r>
            <a:endParaRPr lang="pt-BR" sz="1400" b="1" dirty="0" smtClean="0">
              <a:latin typeface="Calibri" panose="020F0502020204030204" pitchFamily="34" charset="0"/>
              <a:ea typeface="Verdana" pitchFamily="34" charset="0"/>
              <a:cs typeface="Shonar Bangla" panose="020B0502040204020203" pitchFamily="34" charset="0"/>
            </a:endParaRPr>
          </a:p>
        </p:txBody>
      </p:sp>
      <p:sp>
        <p:nvSpPr>
          <p:cNvPr id="32" name="Retângulo 31"/>
          <p:cNvSpPr/>
          <p:nvPr userDrawn="1"/>
        </p:nvSpPr>
        <p:spPr>
          <a:xfrm>
            <a:off x="291858" y="1842621"/>
            <a:ext cx="6305495" cy="2256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rgbClr val="FFFF00"/>
                </a:solidFill>
              </a:rPr>
              <a:t>ATENÇÃO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44" name="CaixaDeTexto 43"/>
          <p:cNvSpPr txBox="1"/>
          <p:nvPr userDrawn="1"/>
        </p:nvSpPr>
        <p:spPr>
          <a:xfrm>
            <a:off x="306006" y="2721564"/>
            <a:ext cx="314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DA REVENDA E DO INSTALADOR</a:t>
            </a:r>
            <a:endParaRPr lang="en-US" sz="1400" b="1" dirty="0"/>
          </a:p>
        </p:txBody>
      </p:sp>
      <p:sp>
        <p:nvSpPr>
          <p:cNvPr id="45" name="CaixaDeTexto 44"/>
          <p:cNvSpPr txBox="1"/>
          <p:nvPr userDrawn="1"/>
        </p:nvSpPr>
        <p:spPr>
          <a:xfrm>
            <a:off x="141537" y="3004866"/>
            <a:ext cx="172021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Nome</a:t>
            </a:r>
            <a:r>
              <a:rPr lang="pt-BR" sz="1200" b="0" baseline="0" dirty="0" smtClean="0"/>
              <a:t> da Revenda        :</a:t>
            </a:r>
            <a:endParaRPr lang="en-US" sz="1200" b="0" dirty="0"/>
          </a:p>
        </p:txBody>
      </p:sp>
      <p:sp>
        <p:nvSpPr>
          <p:cNvPr id="49" name="CaixaDeTexto 48"/>
          <p:cNvSpPr txBox="1"/>
          <p:nvPr userDrawn="1"/>
        </p:nvSpPr>
        <p:spPr>
          <a:xfrm>
            <a:off x="122487" y="3392266"/>
            <a:ext cx="172996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BR da ASD</a:t>
            </a:r>
            <a:r>
              <a:rPr lang="pt-BR" sz="1200" b="0" baseline="0" dirty="0" smtClean="0"/>
              <a:t> / ASI             :</a:t>
            </a:r>
            <a:endParaRPr lang="en-US" sz="1200" b="0" dirty="0"/>
          </a:p>
        </p:txBody>
      </p:sp>
      <p:sp>
        <p:nvSpPr>
          <p:cNvPr id="50" name="CaixaDeTexto 49"/>
          <p:cNvSpPr txBox="1"/>
          <p:nvPr userDrawn="1"/>
        </p:nvSpPr>
        <p:spPr>
          <a:xfrm>
            <a:off x="133205" y="3787131"/>
            <a:ext cx="17136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da Instaladora   :</a:t>
            </a:r>
            <a:endParaRPr lang="en-US" sz="1200" b="0" dirty="0"/>
          </a:p>
        </p:txBody>
      </p:sp>
      <p:sp>
        <p:nvSpPr>
          <p:cNvPr id="51" name="CaixaDeTexto 50"/>
          <p:cNvSpPr txBox="1"/>
          <p:nvPr userDrawn="1"/>
        </p:nvSpPr>
        <p:spPr>
          <a:xfrm>
            <a:off x="128336" y="4181996"/>
            <a:ext cx="17568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do Instalador     :</a:t>
            </a:r>
            <a:endParaRPr lang="en-US" sz="1200" b="0" dirty="0"/>
          </a:p>
        </p:txBody>
      </p:sp>
      <p:sp>
        <p:nvSpPr>
          <p:cNvPr id="52" name="CaixaDeTexto 51"/>
          <p:cNvSpPr txBox="1"/>
          <p:nvPr userDrawn="1"/>
        </p:nvSpPr>
        <p:spPr>
          <a:xfrm>
            <a:off x="126157" y="4590600"/>
            <a:ext cx="1720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Telefone</a:t>
            </a:r>
            <a:r>
              <a:rPr lang="pt-BR" sz="1200" b="0" baseline="0" dirty="0" smtClean="0"/>
              <a:t> do Instalador :</a:t>
            </a:r>
            <a:endParaRPr lang="en-US" sz="1200" b="0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2028591" y="3003375"/>
            <a:ext cx="45687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Retângulo 53"/>
          <p:cNvSpPr/>
          <p:nvPr userDrawn="1"/>
        </p:nvSpPr>
        <p:spPr>
          <a:xfrm>
            <a:off x="2015051" y="3383894"/>
            <a:ext cx="1845998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Retângulo 54"/>
          <p:cNvSpPr/>
          <p:nvPr userDrawn="1"/>
        </p:nvSpPr>
        <p:spPr>
          <a:xfrm>
            <a:off x="2028592" y="3787454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56" name="Retângulo 55"/>
          <p:cNvSpPr/>
          <p:nvPr userDrawn="1"/>
        </p:nvSpPr>
        <p:spPr>
          <a:xfrm>
            <a:off x="2028191" y="4194179"/>
            <a:ext cx="45691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7" name="Retângulo 56"/>
          <p:cNvSpPr/>
          <p:nvPr userDrawn="1"/>
        </p:nvSpPr>
        <p:spPr>
          <a:xfrm>
            <a:off x="2028592" y="4592148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303021" y="4947323"/>
            <a:ext cx="168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CLIENTE </a:t>
            </a:r>
            <a:endParaRPr lang="en-US" sz="1400" b="1" dirty="0"/>
          </a:p>
        </p:txBody>
      </p:sp>
      <p:sp>
        <p:nvSpPr>
          <p:cNvPr id="59" name="CaixaDeTexto 58"/>
          <p:cNvSpPr txBox="1"/>
          <p:nvPr userDrawn="1"/>
        </p:nvSpPr>
        <p:spPr>
          <a:xfrm>
            <a:off x="178369" y="5230698"/>
            <a:ext cx="18735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 Nome</a:t>
            </a:r>
            <a:r>
              <a:rPr lang="pt-BR" sz="1200" b="0" baseline="0" dirty="0" smtClean="0"/>
              <a:t> do Cliente          :</a:t>
            </a:r>
            <a:endParaRPr lang="en-US" sz="1200" b="0" dirty="0"/>
          </a:p>
        </p:txBody>
      </p:sp>
      <p:sp>
        <p:nvSpPr>
          <p:cNvPr id="60" name="CaixaDeTexto 59"/>
          <p:cNvSpPr txBox="1"/>
          <p:nvPr userDrawn="1"/>
        </p:nvSpPr>
        <p:spPr>
          <a:xfrm>
            <a:off x="225343" y="5618098"/>
            <a:ext cx="162095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Endereço do Cliente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1" name="CaixaDeTexto 60"/>
          <p:cNvSpPr txBox="1"/>
          <p:nvPr userDrawn="1"/>
        </p:nvSpPr>
        <p:spPr>
          <a:xfrm>
            <a:off x="194264" y="6012963"/>
            <a:ext cx="164532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Complemento        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2" name="CaixaDeTexto 61"/>
          <p:cNvSpPr txBox="1"/>
          <p:nvPr userDrawn="1"/>
        </p:nvSpPr>
        <p:spPr>
          <a:xfrm>
            <a:off x="237251" y="6816432"/>
            <a:ext cx="160127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Telefone</a:t>
            </a:r>
            <a:r>
              <a:rPr lang="pt-BR" sz="1200" b="0" baseline="0" dirty="0" smtClean="0"/>
              <a:t> do Cliente     :</a:t>
            </a:r>
            <a:endParaRPr lang="en-US" sz="1200" b="0" dirty="0"/>
          </a:p>
        </p:txBody>
      </p:sp>
      <p:sp>
        <p:nvSpPr>
          <p:cNvPr id="63" name="Retângulo 62"/>
          <p:cNvSpPr/>
          <p:nvPr userDrawn="1"/>
        </p:nvSpPr>
        <p:spPr>
          <a:xfrm>
            <a:off x="2015050" y="5229207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Retângulo 63"/>
          <p:cNvSpPr/>
          <p:nvPr userDrawn="1"/>
        </p:nvSpPr>
        <p:spPr>
          <a:xfrm>
            <a:off x="2015050" y="5609726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tângulo 64"/>
          <p:cNvSpPr/>
          <p:nvPr userDrawn="1"/>
        </p:nvSpPr>
        <p:spPr>
          <a:xfrm>
            <a:off x="2015049" y="6013286"/>
            <a:ext cx="2566079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66" name="Retângulo 65"/>
          <p:cNvSpPr/>
          <p:nvPr userDrawn="1"/>
        </p:nvSpPr>
        <p:spPr>
          <a:xfrm>
            <a:off x="2015049" y="6420011"/>
            <a:ext cx="458230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5" name="Retângulo 74"/>
          <p:cNvSpPr/>
          <p:nvPr userDrawn="1"/>
        </p:nvSpPr>
        <p:spPr>
          <a:xfrm>
            <a:off x="2015050" y="6817980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6" name="CaixaDeTexto 75"/>
          <p:cNvSpPr txBox="1"/>
          <p:nvPr userDrawn="1"/>
        </p:nvSpPr>
        <p:spPr>
          <a:xfrm>
            <a:off x="4589682" y="6009182"/>
            <a:ext cx="48244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CEP.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0" name="Retângulo 79"/>
          <p:cNvSpPr/>
          <p:nvPr userDrawn="1"/>
        </p:nvSpPr>
        <p:spPr>
          <a:xfrm>
            <a:off x="5124938" y="5995468"/>
            <a:ext cx="14724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CaixaDeTexto 80"/>
          <p:cNvSpPr txBox="1"/>
          <p:nvPr userDrawn="1"/>
        </p:nvSpPr>
        <p:spPr>
          <a:xfrm>
            <a:off x="213257" y="6407827"/>
            <a:ext cx="1626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Cidade / Estado            :</a:t>
            </a:r>
            <a:endParaRPr lang="en-US" sz="1200" b="0" dirty="0"/>
          </a:p>
        </p:txBody>
      </p:sp>
      <p:sp>
        <p:nvSpPr>
          <p:cNvPr id="82" name="CaixaDeTexto 81"/>
          <p:cNvSpPr txBox="1"/>
          <p:nvPr userDrawn="1"/>
        </p:nvSpPr>
        <p:spPr>
          <a:xfrm>
            <a:off x="304069" y="7164288"/>
            <a:ext cx="1792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PRODUTO</a:t>
            </a:r>
            <a:endParaRPr lang="en-US" sz="1400" b="1" dirty="0"/>
          </a:p>
        </p:txBody>
      </p:sp>
      <p:sp>
        <p:nvSpPr>
          <p:cNvPr id="83" name="CaixaDeTexto 82"/>
          <p:cNvSpPr txBox="1"/>
          <p:nvPr userDrawn="1"/>
        </p:nvSpPr>
        <p:spPr>
          <a:xfrm>
            <a:off x="220321" y="7469074"/>
            <a:ext cx="1365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Mod. do Evap</a:t>
            </a:r>
            <a:r>
              <a:rPr lang="pt-BR" sz="1200" b="0" baseline="0" dirty="0" smtClean="0"/>
              <a:t> ou</a:t>
            </a:r>
            <a:endParaRPr lang="pt-BR" sz="1200" b="0" dirty="0" smtClean="0"/>
          </a:p>
          <a:p>
            <a:r>
              <a:rPr lang="pt-BR" sz="1200" b="0" dirty="0" smtClean="0"/>
              <a:t>Condensador       :</a:t>
            </a:r>
            <a:endParaRPr lang="en-US" sz="1200" b="0" dirty="0"/>
          </a:p>
        </p:txBody>
      </p:sp>
      <p:sp>
        <p:nvSpPr>
          <p:cNvPr id="84" name="CaixaDeTexto 83"/>
          <p:cNvSpPr txBox="1"/>
          <p:nvPr userDrawn="1"/>
        </p:nvSpPr>
        <p:spPr>
          <a:xfrm>
            <a:off x="3645024" y="7468605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Número </a:t>
            </a:r>
          </a:p>
          <a:p>
            <a:r>
              <a:rPr lang="pt-BR" sz="1200" b="0" dirty="0" smtClean="0"/>
              <a:t>de Série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5" name="CaixaDeTexto 84"/>
          <p:cNvSpPr txBox="1"/>
          <p:nvPr userDrawn="1"/>
        </p:nvSpPr>
        <p:spPr>
          <a:xfrm>
            <a:off x="208532" y="7976369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Compra    :</a:t>
            </a:r>
            <a:endParaRPr lang="en-US" sz="1200" b="0" dirty="0"/>
          </a:p>
        </p:txBody>
      </p:sp>
      <p:sp>
        <p:nvSpPr>
          <p:cNvPr id="86" name="Retângulo 85"/>
          <p:cNvSpPr/>
          <p:nvPr userDrawn="1"/>
        </p:nvSpPr>
        <p:spPr>
          <a:xfrm>
            <a:off x="1586154" y="7456713"/>
            <a:ext cx="2058870" cy="46386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tângulo 86"/>
          <p:cNvSpPr/>
          <p:nvPr userDrawn="1"/>
        </p:nvSpPr>
        <p:spPr>
          <a:xfrm>
            <a:off x="4581126" y="7474643"/>
            <a:ext cx="2016226" cy="46231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tângulo 87"/>
          <p:cNvSpPr/>
          <p:nvPr userDrawn="1"/>
        </p:nvSpPr>
        <p:spPr>
          <a:xfrm>
            <a:off x="1586154" y="7993958"/>
            <a:ext cx="15548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Retângulo 88"/>
          <p:cNvSpPr/>
          <p:nvPr userDrawn="1"/>
        </p:nvSpPr>
        <p:spPr>
          <a:xfrm>
            <a:off x="1586155" y="8361620"/>
            <a:ext cx="205887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CaixaDeTexto 89"/>
          <p:cNvSpPr txBox="1"/>
          <p:nvPr userDrawn="1"/>
        </p:nvSpPr>
        <p:spPr>
          <a:xfrm>
            <a:off x="201637" y="8354736"/>
            <a:ext cx="140140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Nº da Nota Fiscal   :</a:t>
            </a:r>
            <a:endParaRPr lang="en-US" sz="1200" b="0" dirty="0"/>
          </a:p>
        </p:txBody>
      </p:sp>
      <p:sp>
        <p:nvSpPr>
          <p:cNvPr id="91" name="CaixaDeTexto 90"/>
          <p:cNvSpPr txBox="1"/>
          <p:nvPr userDrawn="1"/>
        </p:nvSpPr>
        <p:spPr>
          <a:xfrm>
            <a:off x="3095345" y="7998260"/>
            <a:ext cx="15118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Instalação    :</a:t>
            </a:r>
            <a:endParaRPr lang="en-US" sz="1200" b="0" dirty="0"/>
          </a:p>
        </p:txBody>
      </p:sp>
      <p:sp>
        <p:nvSpPr>
          <p:cNvPr id="92" name="Retângulo 91"/>
          <p:cNvSpPr/>
          <p:nvPr userDrawn="1"/>
        </p:nvSpPr>
        <p:spPr>
          <a:xfrm>
            <a:off x="4581127" y="7983191"/>
            <a:ext cx="2016225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tângulo de cantos arredondados 92"/>
          <p:cNvSpPr/>
          <p:nvPr userDrawn="1"/>
        </p:nvSpPr>
        <p:spPr>
          <a:xfrm>
            <a:off x="217714" y="2965275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tângulo de cantos arredondados 93"/>
          <p:cNvSpPr/>
          <p:nvPr userDrawn="1"/>
        </p:nvSpPr>
        <p:spPr>
          <a:xfrm>
            <a:off x="229099" y="5194272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tângulo de cantos arredondados 94"/>
          <p:cNvSpPr/>
          <p:nvPr userDrawn="1"/>
        </p:nvSpPr>
        <p:spPr>
          <a:xfrm>
            <a:off x="284932" y="7427028"/>
            <a:ext cx="6451646" cy="126873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1/4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8" name="CaixaDeTexto 47"/>
          <p:cNvSpPr txBox="1"/>
          <p:nvPr userDrawn="1"/>
        </p:nvSpPr>
        <p:spPr>
          <a:xfrm>
            <a:off x="3931287" y="3393129"/>
            <a:ext cx="25940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  Código BR do</a:t>
            </a:r>
            <a:r>
              <a:rPr lang="pt-BR" sz="1200" b="0" baseline="0" dirty="0" smtClean="0"/>
              <a:t> Distribuidor / Revenda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4116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89959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8" y="1314934"/>
            <a:ext cx="30521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1.1. Local da Instalação – Siga as distâncias conforme indicado no manual de instalação  </a:t>
            </a:r>
            <a:endParaRPr lang="en-US" sz="1200" b="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9" y="1823200"/>
            <a:ext cx="2952064" cy="2407809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3443723" y="1324676"/>
            <a:ext cx="34142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1.2 Instalação – Anexar umas fotos da instalação unidade interna/externa conforme exemplo ao lado </a:t>
            </a:r>
            <a:endParaRPr lang="en-US" sz="1200" b="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443722" y="1823201"/>
            <a:ext cx="3153629" cy="2407808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030" name="Picture 6" descr="Resultado de imagem para foto instalação split L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5" r="24416"/>
          <a:stretch/>
        </p:blipFill>
        <p:spPr bwMode="auto">
          <a:xfrm>
            <a:off x="303723" y="2689632"/>
            <a:ext cx="1051146" cy="151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4784" y="2732893"/>
            <a:ext cx="1699353" cy="146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7" name="CaixaDeTexto 46"/>
          <p:cNvSpPr txBox="1"/>
          <p:nvPr userDrawn="1"/>
        </p:nvSpPr>
        <p:spPr>
          <a:xfrm>
            <a:off x="3245078" y="6391504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Capacidade </a:t>
            </a:r>
          </a:p>
          <a:p>
            <a:pPr algn="ctr"/>
            <a:r>
              <a:rPr lang="pt-BR" sz="800" b="1" baseline="0" dirty="0" smtClean="0"/>
              <a:t>do Disjuntor</a:t>
            </a:r>
            <a:endParaRPr lang="en-US" sz="800" b="1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3371319" y="5141477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4" name="Retângulo 53"/>
          <p:cNvSpPr/>
          <p:nvPr userDrawn="1"/>
        </p:nvSpPr>
        <p:spPr>
          <a:xfrm>
            <a:off x="5071882" y="5138382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5" name="Picture 8" descr="https://encrypted-tbn0.gstatic.com/images?q=tbn:ANd9GcQJqCwyb_tu5ch_AFuDI62JyHOKC2gj3jd3A1hIpAr_IZgxC5-0jg"/>
          <p:cNvPicPr>
            <a:picLocks noChangeAspect="1" noChangeArrowheads="1"/>
          </p:cNvPicPr>
          <p:nvPr userDrawn="1"/>
        </p:nvPicPr>
        <p:blipFill rotWithShape="1">
          <a:blip r:embed="rId4" cstate="print">
            <a:lum bright="70000" contrast="-70000"/>
          </a:blip>
          <a:srcRect l="58123" t="8884" r="10530" b="19537"/>
          <a:stretch/>
        </p:blipFill>
        <p:spPr bwMode="auto">
          <a:xfrm>
            <a:off x="3407252" y="5152510"/>
            <a:ext cx="1279936" cy="1276212"/>
          </a:xfrm>
          <a:prstGeom prst="rect">
            <a:avLst/>
          </a:prstGeom>
          <a:noFill/>
        </p:spPr>
      </p:pic>
      <p:pic>
        <p:nvPicPr>
          <p:cNvPr id="56" name="Picture 36" descr="87V_01_200p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113116" y="5152510"/>
            <a:ext cx="1277168" cy="126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Retângulo 56"/>
          <p:cNvSpPr/>
          <p:nvPr userDrawn="1"/>
        </p:nvSpPr>
        <p:spPr>
          <a:xfrm>
            <a:off x="3954969" y="6447483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4985687" y="6376935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Tensão de Alimentação</a:t>
            </a:r>
            <a:endParaRPr lang="en-US" sz="800" b="1" dirty="0"/>
          </a:p>
        </p:txBody>
      </p:sp>
      <p:sp>
        <p:nvSpPr>
          <p:cNvPr id="59" name="Retângulo 58"/>
          <p:cNvSpPr/>
          <p:nvPr userDrawn="1"/>
        </p:nvSpPr>
        <p:spPr>
          <a:xfrm>
            <a:off x="5664880" y="6442084"/>
            <a:ext cx="750804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V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61" name="Picture 1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45133" y="4322108"/>
            <a:ext cx="2840304" cy="75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Retângulo 62"/>
          <p:cNvSpPr/>
          <p:nvPr userDrawn="1"/>
        </p:nvSpPr>
        <p:spPr>
          <a:xfrm>
            <a:off x="4985686" y="6874074"/>
            <a:ext cx="1429997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CaixaDeTexto 63"/>
          <p:cNvSpPr txBox="1"/>
          <p:nvPr userDrawn="1"/>
        </p:nvSpPr>
        <p:spPr>
          <a:xfrm>
            <a:off x="4985687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Condensador</a:t>
            </a:r>
            <a:endParaRPr lang="en-US" sz="800" b="1" dirty="0"/>
          </a:p>
        </p:txBody>
      </p:sp>
      <p:sp>
        <p:nvSpPr>
          <p:cNvPr id="65" name="Retângulo 64"/>
          <p:cNvSpPr/>
          <p:nvPr userDrawn="1"/>
        </p:nvSpPr>
        <p:spPr>
          <a:xfrm>
            <a:off x="3343386" y="6874074"/>
            <a:ext cx="1408420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6" name="CaixaDeTexto 65"/>
          <p:cNvSpPr txBox="1"/>
          <p:nvPr userDrawn="1"/>
        </p:nvSpPr>
        <p:spPr>
          <a:xfrm>
            <a:off x="3339010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Evaporador </a:t>
            </a:r>
            <a:endParaRPr lang="en-US" sz="800" b="1" dirty="0"/>
          </a:p>
        </p:txBody>
      </p:sp>
      <p:pic>
        <p:nvPicPr>
          <p:cNvPr id="67" name="Imagem 66"/>
          <p:cNvPicPr>
            <a:picLocks noChangeAspect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775" y="7251912"/>
            <a:ext cx="1385686" cy="990314"/>
          </a:xfrm>
          <a:prstGeom prst="rect">
            <a:avLst/>
          </a:prstGeom>
        </p:spPr>
      </p:pic>
      <p:pic>
        <p:nvPicPr>
          <p:cNvPr id="68" name="Imagem 67"/>
          <p:cNvPicPr>
            <a:picLocks noChangeAspect="1"/>
          </p:cNvPicPr>
          <p:nvPr userDrawn="1"/>
        </p:nvPicPr>
        <p:blipFill rotWithShape="1"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4" t="3024" r="11356" b="5709"/>
          <a:stretch/>
        </p:blipFill>
        <p:spPr>
          <a:xfrm>
            <a:off x="5008546" y="7251912"/>
            <a:ext cx="1404598" cy="983248"/>
          </a:xfrm>
          <a:prstGeom prst="rect">
            <a:avLst/>
          </a:prstGeom>
        </p:spPr>
      </p:pic>
      <p:sp>
        <p:nvSpPr>
          <p:cNvPr id="69" name="CaixaDeTexto 68"/>
          <p:cNvSpPr txBox="1"/>
          <p:nvPr userDrawn="1"/>
        </p:nvSpPr>
        <p:spPr>
          <a:xfrm>
            <a:off x="148734" y="6536537"/>
            <a:ext cx="115212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Qual o bitola do cabo de Alimentação </a:t>
            </a:r>
            <a:endParaRPr lang="en-US" sz="800" b="1" dirty="0"/>
          </a:p>
        </p:txBody>
      </p:sp>
      <p:sp>
        <p:nvSpPr>
          <p:cNvPr id="70" name="Retângulo 69"/>
          <p:cNvSpPr/>
          <p:nvPr userDrawn="1"/>
        </p:nvSpPr>
        <p:spPr>
          <a:xfrm>
            <a:off x="1237273" y="6595336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mm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772815" y="1835696"/>
            <a:ext cx="1400255" cy="89719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86435" y="1854502"/>
            <a:ext cx="1506195" cy="878391"/>
          </a:xfrm>
          <a:prstGeom prst="rect">
            <a:avLst/>
          </a:prstGeom>
        </p:spPr>
      </p:pic>
      <p:sp>
        <p:nvSpPr>
          <p:cNvPr id="71" name="CaixaDeTexto 70"/>
          <p:cNvSpPr txBox="1"/>
          <p:nvPr userDrawn="1"/>
        </p:nvSpPr>
        <p:spPr>
          <a:xfrm>
            <a:off x="57046" y="4283968"/>
            <a:ext cx="284026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2. Informação sobre a instalação elétrica: </a:t>
            </a:r>
            <a:endParaRPr lang="en-US" sz="1200" b="1" dirty="0"/>
          </a:p>
        </p:txBody>
      </p:sp>
      <p:sp>
        <p:nvSpPr>
          <p:cNvPr id="72" name="CaixaDeTexto 71"/>
          <p:cNvSpPr txBox="1"/>
          <p:nvPr userDrawn="1"/>
        </p:nvSpPr>
        <p:spPr>
          <a:xfrm>
            <a:off x="50696" y="4499992"/>
            <a:ext cx="350153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2.1 Qual a tensão de alimentação na Condensadora? </a:t>
            </a:r>
            <a:endParaRPr lang="en-US" sz="1200" b="0" dirty="0"/>
          </a:p>
        </p:txBody>
      </p:sp>
      <p:sp>
        <p:nvSpPr>
          <p:cNvPr id="73" name="CaixaDeTexto 72"/>
          <p:cNvSpPr txBox="1"/>
          <p:nvPr userDrawn="1"/>
        </p:nvSpPr>
        <p:spPr>
          <a:xfrm>
            <a:off x="140460" y="1119139"/>
            <a:ext cx="226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</a:t>
            </a:r>
            <a:r>
              <a:rPr lang="pt-B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Instalação física das unidades</a:t>
            </a:r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 rotWithShape="1">
          <a:blip r:embed="rId12"/>
          <a:srcRect t="5259" r="6248" b="243"/>
          <a:stretch/>
        </p:blipFill>
        <p:spPr>
          <a:xfrm rot="16200000">
            <a:off x="802868" y="4391488"/>
            <a:ext cx="1339480" cy="266429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13"/>
          <a:srcRect l="15112"/>
          <a:stretch/>
        </p:blipFill>
        <p:spPr>
          <a:xfrm>
            <a:off x="188640" y="7235130"/>
            <a:ext cx="1568594" cy="1657350"/>
          </a:xfrm>
          <a:prstGeom prst="rect">
            <a:avLst/>
          </a:prstGeom>
        </p:spPr>
      </p:pic>
      <p:sp>
        <p:nvSpPr>
          <p:cNvPr id="6" name="CaixaDeTexto 5"/>
          <p:cNvSpPr txBox="1"/>
          <p:nvPr userDrawn="1"/>
        </p:nvSpPr>
        <p:spPr>
          <a:xfrm>
            <a:off x="148734" y="4776991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</a:t>
            </a:r>
            <a:r>
              <a:rPr lang="pt-BR" sz="1600" baseline="0" dirty="0" smtClean="0"/>
              <a:t>condensadora</a:t>
            </a:r>
            <a:endParaRPr lang="pt-BR" sz="1600" dirty="0"/>
          </a:p>
        </p:txBody>
      </p:sp>
      <p:sp>
        <p:nvSpPr>
          <p:cNvPr id="74" name="CaixaDeTexto 73"/>
          <p:cNvSpPr txBox="1"/>
          <p:nvPr userDrawn="1"/>
        </p:nvSpPr>
        <p:spPr>
          <a:xfrm>
            <a:off x="148734" y="6897742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Evaporad</a:t>
            </a:r>
            <a:r>
              <a:rPr lang="pt-BR" sz="1600" baseline="0" dirty="0" smtClean="0"/>
              <a:t>ora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72807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7" y="1314934"/>
            <a:ext cx="173624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3. Qual o Código de Erro</a:t>
            </a:r>
            <a:endParaRPr lang="en-US" sz="1200" b="1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8" y="1591933"/>
            <a:ext cx="1944216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2516204" y="1314933"/>
            <a:ext cx="21369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4. Qual é o sintoma / Defeito? </a:t>
            </a:r>
            <a:endParaRPr lang="en-US" sz="1200" b="1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2516204" y="1591933"/>
            <a:ext cx="4081147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68960" y="2051720"/>
            <a:ext cx="23604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5. Quais Testes foram Realizados? </a:t>
            </a:r>
            <a:endParaRPr lang="en-US" sz="1200" b="1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260648" y="2313891"/>
            <a:ext cx="6336703" cy="889957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CaixaDeTexto 14"/>
          <p:cNvSpPr txBox="1"/>
          <p:nvPr userDrawn="1"/>
        </p:nvSpPr>
        <p:spPr>
          <a:xfrm>
            <a:off x="175310" y="3231175"/>
            <a:ext cx="547829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6. Qual Peça será solicitada em garantia?  Informe o Part Number / Código da Peça.</a:t>
            </a:r>
            <a:endParaRPr lang="en-US" sz="1200" b="1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263987" y="3478950"/>
            <a:ext cx="6333364" cy="51698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168960" y="4002286"/>
            <a:ext cx="526657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7. Testes dos fusíveis de proteção a serem realizado nas unidades IDU e ODU </a:t>
            </a:r>
            <a:endParaRPr lang="en-US" sz="1200" b="1" dirty="0"/>
          </a:p>
        </p:txBody>
      </p:sp>
      <p:sp>
        <p:nvSpPr>
          <p:cNvPr id="32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84" name="CaixaDeTexto 83"/>
          <p:cNvSpPr txBox="1"/>
          <p:nvPr userDrawn="1"/>
        </p:nvSpPr>
        <p:spPr>
          <a:xfrm>
            <a:off x="168959" y="4222993"/>
            <a:ext cx="645808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7.1 Favor checar os fusíveis de proteção, caso esteja queimado efetue a troca, a queima de fusível não é um defeito do produto e sim uma proteção contra sobre corrente devido a variação de tensão.</a:t>
            </a:r>
            <a:endParaRPr lang="en-US" sz="1200" b="0" dirty="0"/>
          </a:p>
        </p:txBody>
      </p:sp>
      <p:sp>
        <p:nvSpPr>
          <p:cNvPr id="86" name="Retângulo 85"/>
          <p:cNvSpPr/>
          <p:nvPr userDrawn="1"/>
        </p:nvSpPr>
        <p:spPr>
          <a:xfrm>
            <a:off x="3443723" y="6061642"/>
            <a:ext cx="3062297" cy="247079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7" name="CaixaDeTexto 86"/>
          <p:cNvSpPr txBox="1"/>
          <p:nvPr userDrawn="1"/>
        </p:nvSpPr>
        <p:spPr>
          <a:xfrm>
            <a:off x="3573016" y="5868144"/>
            <a:ext cx="24817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  teste comunicação </a:t>
            </a:r>
            <a:endParaRPr lang="en-US" sz="800" b="1" dirty="0"/>
          </a:p>
        </p:txBody>
      </p:sp>
      <p:sp>
        <p:nvSpPr>
          <p:cNvPr id="88" name="Retângulo 87"/>
          <p:cNvSpPr/>
          <p:nvPr userDrawn="1"/>
        </p:nvSpPr>
        <p:spPr>
          <a:xfrm>
            <a:off x="332656" y="6061642"/>
            <a:ext cx="3062297" cy="2470798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9" name="CaixaDeTexto 88"/>
          <p:cNvSpPr txBox="1"/>
          <p:nvPr userDrawn="1"/>
        </p:nvSpPr>
        <p:spPr>
          <a:xfrm>
            <a:off x="461949" y="5868144"/>
            <a:ext cx="24817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  teste realizado nos fusíveis de proteção</a:t>
            </a:r>
            <a:endParaRPr lang="en-US" sz="800" b="1" dirty="0"/>
          </a:p>
        </p:txBody>
      </p:sp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0649" y="4812559"/>
            <a:ext cx="1584000" cy="94566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44649" y="4802588"/>
            <a:ext cx="1584000" cy="95563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4953" y="4802588"/>
            <a:ext cx="1546215" cy="86691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941168" y="4640098"/>
            <a:ext cx="1576686" cy="111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65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1031632"/>
            <a:ext cx="5220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8. ANÁLISE</a:t>
            </a:r>
            <a:r>
              <a:rPr lang="pt-BR" sz="1400" b="1" baseline="0" dirty="0" smtClean="0"/>
              <a:t> A SER REALIZADA PARA TESTE DA TENSÃO DC E IPM IGBT</a:t>
            </a:r>
            <a:endParaRPr lang="en-US" sz="1400" b="1" dirty="0"/>
          </a:p>
        </p:txBody>
      </p:sp>
      <p:sp>
        <p:nvSpPr>
          <p:cNvPr id="47" name="Rectangle 2"/>
          <p:cNvSpPr>
            <a:spLocks noChangeArrowheads="1"/>
          </p:cNvSpPr>
          <p:nvPr userDrawn="1"/>
        </p:nvSpPr>
        <p:spPr bwMode="auto">
          <a:xfrm>
            <a:off x="162610" y="4222993"/>
            <a:ext cx="619875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1200" dirty="0" smtClean="0"/>
              <a:t>8.1 Geralmente os contatos apresentam estas codificações : 27, 21 ou 17, 24 ou  29, 35 ou  P, N</a:t>
            </a:r>
            <a:endParaRPr lang="pt-BR" sz="1200" dirty="0"/>
          </a:p>
        </p:txBody>
      </p:sp>
      <p:pic>
        <p:nvPicPr>
          <p:cNvPr id="48" name="Imagem 47" descr="IMG-20160803-WA0013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6885" y="4511025"/>
            <a:ext cx="2799655" cy="1728192"/>
          </a:xfrm>
          <a:prstGeom prst="rect">
            <a:avLst/>
          </a:prstGeom>
        </p:spPr>
      </p:pic>
      <p:sp>
        <p:nvSpPr>
          <p:cNvPr id="51" name="Retângulo 50"/>
          <p:cNvSpPr/>
          <p:nvPr userDrawn="1"/>
        </p:nvSpPr>
        <p:spPr>
          <a:xfrm>
            <a:off x="3140969" y="4532434"/>
            <a:ext cx="3456384" cy="170678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2"/>
          <p:cNvSpPr>
            <a:spLocks noChangeArrowheads="1"/>
          </p:cNvSpPr>
          <p:nvPr userDrawn="1"/>
        </p:nvSpPr>
        <p:spPr bwMode="auto">
          <a:xfrm>
            <a:off x="3125729" y="6239217"/>
            <a:ext cx="354930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200" dirty="0" smtClean="0"/>
              <a:t>Insira</a:t>
            </a:r>
            <a:r>
              <a:rPr lang="pt-BR" sz="1200" baseline="0" dirty="0" smtClean="0"/>
              <a:t> fotos com as medições (placa da condensadora)</a:t>
            </a:r>
            <a:endParaRPr lang="pt-BR" sz="1200" dirty="0"/>
          </a:p>
        </p:txBody>
      </p:sp>
      <p:sp>
        <p:nvSpPr>
          <p:cNvPr id="57" name="Retângulo 56"/>
          <p:cNvSpPr/>
          <p:nvPr userDrawn="1"/>
        </p:nvSpPr>
        <p:spPr>
          <a:xfrm>
            <a:off x="309209" y="1259632"/>
            <a:ext cx="31959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ko-KR" sz="800" dirty="0" smtClean="0">
                <a:solidFill>
                  <a:srgbClr val="FF0000"/>
                </a:solidFill>
              </a:rPr>
              <a:t>Os números “27” e “21” são referências do Multi Split Inverter, em outros modelos aparecerá como “P” e “N”.</a:t>
            </a:r>
            <a:endParaRPr lang="pt-BR" sz="800" dirty="0"/>
          </a:p>
        </p:txBody>
      </p:sp>
      <p:pic>
        <p:nvPicPr>
          <p:cNvPr id="62" name="Picture 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66" y="1598186"/>
            <a:ext cx="2414588" cy="83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Rectangle 7"/>
          <p:cNvSpPr>
            <a:spLocks noChangeArrowheads="1"/>
          </p:cNvSpPr>
          <p:nvPr userDrawn="1"/>
        </p:nvSpPr>
        <p:spPr bwMode="auto">
          <a:xfrm>
            <a:off x="3010451" y="1598653"/>
            <a:ext cx="3505246" cy="507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1" tIns="45715" rIns="91431" bIns="45715">
            <a:spAutoFit/>
          </a:bodyPr>
          <a:lstStyle/>
          <a:p>
            <a:pPr algn="just"/>
            <a:r>
              <a:rPr lang="pt-BR" sz="900" dirty="0" smtClean="0">
                <a:solidFill>
                  <a:schemeClr val="tx1"/>
                </a:solidFill>
              </a:rPr>
              <a:t>Na leitura da </a:t>
            </a:r>
            <a:r>
              <a:rPr lang="pt-BR" sz="900" b="1" dirty="0" smtClean="0">
                <a:solidFill>
                  <a:schemeClr val="tx1"/>
                </a:solidFill>
              </a:rPr>
              <a:t>tensão da placa para o compressor</a:t>
            </a:r>
            <a:r>
              <a:rPr lang="pt-BR" sz="900" dirty="0" smtClean="0">
                <a:solidFill>
                  <a:schemeClr val="tx1"/>
                </a:solidFill>
              </a:rPr>
              <a:t>, medir a voltagem entre </a:t>
            </a:r>
            <a:r>
              <a:rPr lang="pt-BR" sz="900" dirty="0" smtClean="0">
                <a:solidFill>
                  <a:srgbClr val="FF0000"/>
                </a:solidFill>
              </a:rPr>
              <a:t>27</a:t>
            </a:r>
            <a:r>
              <a:rPr lang="pt-BR" sz="900" dirty="0" smtClean="0">
                <a:solidFill>
                  <a:schemeClr val="tx1"/>
                </a:solidFill>
              </a:rPr>
              <a:t> e </a:t>
            </a:r>
            <a:r>
              <a:rPr lang="pt-BR" sz="900" dirty="0" smtClean="0">
                <a:solidFill>
                  <a:srgbClr val="FF0000"/>
                </a:solidFill>
              </a:rPr>
              <a:t>21</a:t>
            </a:r>
            <a:r>
              <a:rPr lang="pt-BR" sz="900" dirty="0" smtClean="0">
                <a:solidFill>
                  <a:schemeClr val="tx1"/>
                </a:solidFill>
              </a:rPr>
              <a:t>, devendo encontrar o valor de tensão entre 290 e 310 DCV.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3/4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28" name="CaixaDeTexto 27"/>
          <p:cNvSpPr txBox="1"/>
          <p:nvPr userDrawn="1"/>
        </p:nvSpPr>
        <p:spPr>
          <a:xfrm>
            <a:off x="162610" y="6444208"/>
            <a:ext cx="453476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8.2 Mostre o teste de IPM IGBT para placa da unidade condensadora</a:t>
            </a:r>
            <a:endParaRPr lang="en-US" sz="1200" b="0" dirty="0"/>
          </a:p>
        </p:txBody>
      </p:sp>
      <p:sp>
        <p:nvSpPr>
          <p:cNvPr id="29" name="Retângulo 28"/>
          <p:cNvSpPr/>
          <p:nvPr userDrawn="1"/>
        </p:nvSpPr>
        <p:spPr>
          <a:xfrm>
            <a:off x="3091723" y="6919968"/>
            <a:ext cx="3414297" cy="1762837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CaixaDeTexto 29"/>
          <p:cNvSpPr txBox="1"/>
          <p:nvPr userDrawn="1"/>
        </p:nvSpPr>
        <p:spPr>
          <a:xfrm>
            <a:off x="3573016" y="6726470"/>
            <a:ext cx="24817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  teste realizado somente para placa da ODU </a:t>
            </a:r>
            <a:endParaRPr lang="en-US" sz="800" b="1" dirty="0"/>
          </a:p>
        </p:txBody>
      </p:sp>
      <p:pic>
        <p:nvPicPr>
          <p:cNvPr id="31" name="Imagem 3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937" y="6799565"/>
            <a:ext cx="2680603" cy="1883240"/>
          </a:xfrm>
          <a:prstGeom prst="rect">
            <a:avLst/>
          </a:prstGeom>
        </p:spPr>
      </p:pic>
      <p:pic>
        <p:nvPicPr>
          <p:cNvPr id="33" name="Picture 5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59"/>
          <a:stretch/>
        </p:blipFill>
        <p:spPr bwMode="auto">
          <a:xfrm>
            <a:off x="188640" y="2607927"/>
            <a:ext cx="1152128" cy="1258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CaixaDeTexto 33"/>
          <p:cNvSpPr txBox="1"/>
          <p:nvPr userDrawn="1"/>
        </p:nvSpPr>
        <p:spPr>
          <a:xfrm>
            <a:off x="1349187" y="2555776"/>
            <a:ext cx="216024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800" b="1" dirty="0" smtClean="0">
                <a:ea typeface="Verdana" pitchFamily="34" charset="0"/>
                <a:cs typeface="Arial" pitchFamily="34" charset="0"/>
              </a:rPr>
              <a:t>Local: </a:t>
            </a:r>
            <a:r>
              <a:rPr lang="pt-BR" sz="800" b="0" dirty="0" smtClean="0">
                <a:ea typeface="Verdana" pitchFamily="34" charset="0"/>
                <a:cs typeface="Arial" pitchFamily="34" charset="0"/>
              </a:rPr>
              <a:t>P</a:t>
            </a:r>
            <a:r>
              <a:rPr lang="pt-BR" sz="800" dirty="0" smtClean="0">
                <a:ea typeface="Verdana" pitchFamily="34" charset="0"/>
                <a:cs typeface="Arial" pitchFamily="34" charset="0"/>
              </a:rPr>
              <a:t>laca eletrônica, nas extremidades do cabeamento de</a:t>
            </a:r>
            <a:r>
              <a:rPr lang="pt-BR" sz="800" baseline="0" dirty="0" smtClean="0">
                <a:ea typeface="Verdana" pitchFamily="34" charset="0"/>
                <a:cs typeface="Arial" pitchFamily="34" charset="0"/>
              </a:rPr>
              <a:t> alimentação </a:t>
            </a:r>
            <a:r>
              <a:rPr lang="pt-BR" sz="800" dirty="0" smtClean="0">
                <a:ea typeface="Verdana" pitchFamily="34" charset="0"/>
                <a:cs typeface="Arial" pitchFamily="34" charset="0"/>
              </a:rPr>
              <a:t>do compressor.</a:t>
            </a:r>
          </a:p>
          <a:p>
            <a:pPr algn="just"/>
            <a:endParaRPr lang="pt-BR" sz="800" dirty="0" smtClean="0">
              <a:ea typeface="Verdana" pitchFamily="34" charset="0"/>
              <a:cs typeface="Arial" pitchFamily="34" charset="0"/>
            </a:endParaRPr>
          </a:p>
          <a:p>
            <a:pPr algn="just"/>
            <a:r>
              <a:rPr lang="pt-BR" sz="800" dirty="0" smtClean="0">
                <a:ea typeface="Verdana" pitchFamily="34" charset="0"/>
                <a:cs typeface="Arial" pitchFamily="34" charset="0"/>
              </a:rPr>
              <a:t>Escala do multímetro = 1.000 DCV</a:t>
            </a:r>
          </a:p>
          <a:p>
            <a:pPr algn="just"/>
            <a:r>
              <a:rPr lang="pt-BR" sz="800" dirty="0" smtClean="0">
                <a:ea typeface="Verdana" pitchFamily="34" charset="0"/>
                <a:cs typeface="Arial" pitchFamily="34" charset="0"/>
              </a:rPr>
              <a:t>devemos encontrar uma variação de 290 até 310 DCV, dependendo do modelo.</a:t>
            </a:r>
          </a:p>
        </p:txBody>
      </p:sp>
      <p:grpSp>
        <p:nvGrpSpPr>
          <p:cNvPr id="35" name="Grupo 13"/>
          <p:cNvGrpSpPr/>
          <p:nvPr userDrawn="1"/>
        </p:nvGrpSpPr>
        <p:grpSpPr>
          <a:xfrm>
            <a:off x="3520310" y="2586287"/>
            <a:ext cx="3077040" cy="905623"/>
            <a:chOff x="-88542" y="5970094"/>
            <a:chExt cx="8519030" cy="358344"/>
          </a:xfrm>
        </p:grpSpPr>
        <p:sp>
          <p:nvSpPr>
            <p:cNvPr id="36" name="Text Box 237"/>
            <p:cNvSpPr txBox="1">
              <a:spLocks noChangeArrowheads="1"/>
            </p:cNvSpPr>
            <p:nvPr/>
          </p:nvSpPr>
          <p:spPr bwMode="auto">
            <a:xfrm>
              <a:off x="1560216" y="5985221"/>
              <a:ext cx="6870272" cy="343208"/>
            </a:xfrm>
            <a:prstGeom prst="rect">
              <a:avLst/>
            </a:prstGeom>
            <a:solidFill>
              <a:srgbClr val="FFFF00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ko-KR" sz="800" dirty="0" smtClean="0">
                  <a:solidFill>
                    <a:srgbClr val="FF0000"/>
                  </a:solidFill>
                </a:rPr>
                <a:t>Antes de condenar uma placa, efetue o reset para que a energização da placa volte ao normal e você consiga fazer os testes adequadamente.</a:t>
              </a:r>
            </a:p>
            <a:p>
              <a:pPr algn="just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ko-KR" sz="800" dirty="0" smtClean="0">
                  <a:solidFill>
                    <a:srgbClr val="FF0000"/>
                  </a:solidFill>
                </a:rPr>
                <a:t>Se preocupe com a qualidade dos instrumentos adquiridos e use sempre baterias novas.</a:t>
              </a:r>
            </a:p>
            <a:p>
              <a:pPr algn="just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altLang="ko-KR" sz="800" dirty="0" smtClean="0">
                  <a:solidFill>
                    <a:srgbClr val="FF0000"/>
                  </a:solidFill>
                </a:rPr>
                <a:t>Caso tenha dificuldades de manusear os instrumentos de medição adquira modelos de escala automática.</a:t>
              </a:r>
              <a:endParaRPr lang="pt-BR" altLang="ko-KR" sz="800" dirty="0">
                <a:solidFill>
                  <a:srgbClr val="FF0000"/>
                </a:solidFill>
              </a:endParaRPr>
            </a:p>
          </p:txBody>
        </p:sp>
        <p:sp>
          <p:nvSpPr>
            <p:cNvPr id="37" name="Rectangle 238"/>
            <p:cNvSpPr>
              <a:spLocks noChangeArrowheads="1"/>
            </p:cNvSpPr>
            <p:nvPr/>
          </p:nvSpPr>
          <p:spPr bwMode="auto">
            <a:xfrm>
              <a:off x="-78849" y="5970094"/>
              <a:ext cx="1586324" cy="358335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ko-KR" sz="800" b="1" dirty="0" smtClean="0">
                  <a:solidFill>
                    <a:schemeClr val="bg1"/>
                  </a:solidFill>
                  <a:ea typeface="HY헤드라인M"/>
                  <a:cs typeface="HY헤드라인M"/>
                </a:rPr>
                <a:t>ATENÇÃO</a:t>
              </a:r>
              <a:endParaRPr lang="en-US" altLang="ko-KR" sz="800" b="1" dirty="0">
                <a:solidFill>
                  <a:schemeClr val="bg1"/>
                </a:solidFill>
                <a:ea typeface="HY헤드라인M"/>
                <a:cs typeface="HY헤드라인M"/>
              </a:endParaRPr>
            </a:p>
          </p:txBody>
        </p:sp>
        <p:sp>
          <p:nvSpPr>
            <p:cNvPr id="38" name="Rectangle 239"/>
            <p:cNvSpPr>
              <a:spLocks noChangeArrowheads="1"/>
            </p:cNvSpPr>
            <p:nvPr/>
          </p:nvSpPr>
          <p:spPr bwMode="auto">
            <a:xfrm>
              <a:off x="-88542" y="5974715"/>
              <a:ext cx="8519030" cy="353723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9" name="Rectangle 2"/>
          <p:cNvSpPr>
            <a:spLocks noChangeArrowheads="1"/>
          </p:cNvSpPr>
          <p:nvPr userDrawn="1"/>
        </p:nvSpPr>
        <p:spPr bwMode="auto">
          <a:xfrm>
            <a:off x="1340768" y="3635896"/>
            <a:ext cx="439248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Realizar a</a:t>
            </a:r>
            <a:r>
              <a:rPr lang="pt-BR" sz="1200" b="1" baseline="0" dirty="0" smtClean="0">
                <a:solidFill>
                  <a:srgbClr val="FF0000"/>
                </a:solidFill>
              </a:rPr>
              <a:t> leitura com o equipamento desligado porem energizado</a:t>
            </a:r>
            <a:endParaRPr lang="pt-BR" sz="1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26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50806905"/>
              </p:ext>
            </p:extLst>
          </p:nvPr>
        </p:nvGraphicFramePr>
        <p:xfrm>
          <a:off x="259262" y="6193873"/>
          <a:ext cx="6368921" cy="467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6242"/>
                <a:gridCol w="800946"/>
                <a:gridCol w="918680"/>
                <a:gridCol w="892517"/>
                <a:gridCol w="1105984"/>
                <a:gridCol w="1904552"/>
              </a:tblGrid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Revisão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Elaborado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Revisado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Aprovado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Descrição da Alteração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</a:tr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01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05/07/2020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Pedro Pasinato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Carlos</a:t>
                      </a:r>
                      <a:r>
                        <a:rPr lang="pt-BR" sz="1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Jesus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Alexandre Souza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Orientação para testes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Retângulo de cantos arredondados 4"/>
          <p:cNvSpPr>
            <a:spLocks noChangeArrowheads="1"/>
          </p:cNvSpPr>
          <p:nvPr userDrawn="1"/>
        </p:nvSpPr>
        <p:spPr bwMode="auto">
          <a:xfrm>
            <a:off x="404664" y="6732240"/>
            <a:ext cx="6224905" cy="1867535"/>
          </a:xfrm>
          <a:prstGeom prst="roundRect">
            <a:avLst>
              <a:gd name="adj" fmla="val 16667"/>
            </a:avLst>
          </a:prstGeom>
          <a:noFill/>
          <a:ln w="9525" algn="in">
            <a:solidFill>
              <a:srgbClr val="0C0C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Copyright ©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2021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por LG Electronics do Brasil Ltda.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 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Todos os direitos reservados. Nenhuma parte deste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documento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pode ser reproduzida, por qualquer processo ou técnica, traduzido ou convertido em qualquer forma eletrônica, ou legível por qualquer meio, em parte ou no todo, sem a aprovação prévia, por escrito, sem o expresso consentimento por escrito da LG Electronics do Brasil Ltda., estando o contrafator sujeito a responder por crime de Violação de Direito Autoral, conforme o art.184 do Código Penal Brasileiro, além de responder por Perdas e Danos. Todos os logotipos e marcas utilizados neste material pertencem às suas respectivas empresas.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i="1" dirty="0">
                <a:effectLst/>
                <a:latin typeface="Arial"/>
                <a:ea typeface="Calibri"/>
                <a:cs typeface="Times New Roman"/>
              </a:rPr>
              <a:t>“As marcas registradas e os nomes comerciais citados nesta obra, mesmo que não sejam assim identificados, pertencem aos seus respectivos proprietários nos termos das leis, convenções e diretrizes nacionais e internacionais.”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6" name="Retângulo 5"/>
          <p:cNvSpPr/>
          <p:nvPr userDrawn="1"/>
        </p:nvSpPr>
        <p:spPr>
          <a:xfrm>
            <a:off x="260649" y="1619672"/>
            <a:ext cx="3184460" cy="45365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/>
          <p:cNvSpPr txBox="1"/>
          <p:nvPr userDrawn="1"/>
        </p:nvSpPr>
        <p:spPr>
          <a:xfrm>
            <a:off x="260649" y="1311895"/>
            <a:ext cx="2592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0" dirty="0" smtClean="0"/>
              <a:t>9. Foto da</a:t>
            </a:r>
            <a:r>
              <a:rPr lang="pt-BR" sz="1400" b="0" baseline="0" dirty="0" smtClean="0"/>
              <a:t> Placa – Frente e Verso </a:t>
            </a:r>
            <a:endParaRPr lang="en-US" sz="1400" b="0" dirty="0"/>
          </a:p>
        </p:txBody>
      </p:sp>
      <p:sp>
        <p:nvSpPr>
          <p:cNvPr id="8" name="Retângulo 7"/>
          <p:cNvSpPr/>
          <p:nvPr userDrawn="1"/>
        </p:nvSpPr>
        <p:spPr>
          <a:xfrm>
            <a:off x="3445109" y="1619672"/>
            <a:ext cx="3184460" cy="45365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4/4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6293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aixaDeTexto 77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79" name="CaixaDeTexto 78"/>
          <p:cNvSpPr txBox="1"/>
          <p:nvPr userDrawn="1"/>
        </p:nvSpPr>
        <p:spPr>
          <a:xfrm>
            <a:off x="160587" y="1314934"/>
            <a:ext cx="320389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5.5. Isolamento – Padrão Recomendado pela LG </a:t>
            </a:r>
            <a:endParaRPr lang="en-US" sz="1200" b="0" dirty="0"/>
          </a:p>
        </p:txBody>
      </p:sp>
      <p:sp>
        <p:nvSpPr>
          <p:cNvPr id="80" name="Retângulo 79"/>
          <p:cNvSpPr/>
          <p:nvPr userDrawn="1"/>
        </p:nvSpPr>
        <p:spPr>
          <a:xfrm>
            <a:off x="1124744" y="1583867"/>
            <a:ext cx="3816424" cy="1518780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44" y="1583866"/>
            <a:ext cx="3816424" cy="1518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CaixaDeTexto 82"/>
          <p:cNvSpPr txBox="1"/>
          <p:nvPr userDrawn="1"/>
        </p:nvSpPr>
        <p:spPr>
          <a:xfrm>
            <a:off x="1110804" y="2771415"/>
            <a:ext cx="806028" cy="323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lang="pt-BR" sz="900" b="1" baseline="0" dirty="0" smtClean="0"/>
              <a:t>Conexão dos Cabos </a:t>
            </a:r>
            <a:endParaRPr lang="en-US" sz="900" b="1" dirty="0"/>
          </a:p>
        </p:txBody>
      </p:sp>
      <p:sp>
        <p:nvSpPr>
          <p:cNvPr id="84" name="CaixaDeTexto 83"/>
          <p:cNvSpPr txBox="1"/>
          <p:nvPr userDrawn="1"/>
        </p:nvSpPr>
        <p:spPr>
          <a:xfrm>
            <a:off x="1469368" y="1592555"/>
            <a:ext cx="1627149" cy="2308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b="1" baseline="0" dirty="0" smtClean="0"/>
              <a:t>Tubos Refrigerantes – LG / LL  </a:t>
            </a:r>
            <a:endParaRPr lang="en-US" sz="900" b="1" dirty="0"/>
          </a:p>
        </p:txBody>
      </p:sp>
      <p:sp>
        <p:nvSpPr>
          <p:cNvPr id="85" name="CaixaDeTexto 84"/>
          <p:cNvSpPr txBox="1"/>
          <p:nvPr userDrawn="1"/>
        </p:nvSpPr>
        <p:spPr>
          <a:xfrm>
            <a:off x="2348880" y="2709487"/>
            <a:ext cx="792087" cy="1384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pt-BR" sz="900" b="1" baseline="0" dirty="0" smtClean="0"/>
              <a:t>Drenagem </a:t>
            </a:r>
            <a:endParaRPr lang="en-US" sz="900" b="1" dirty="0"/>
          </a:p>
        </p:txBody>
      </p:sp>
      <p:sp>
        <p:nvSpPr>
          <p:cNvPr id="86" name="CaixaDeTexto 85"/>
          <p:cNvSpPr txBox="1"/>
          <p:nvPr userDrawn="1"/>
        </p:nvSpPr>
        <p:spPr>
          <a:xfrm>
            <a:off x="206347" y="3203848"/>
            <a:ext cx="407919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5.6 Isolamento – Anexar uma foto do isolamento da tubulação </a:t>
            </a:r>
            <a:endParaRPr lang="en-US" sz="1200" b="0" dirty="0"/>
          </a:p>
        </p:txBody>
      </p:sp>
      <p:sp>
        <p:nvSpPr>
          <p:cNvPr id="82" name="Retângulo 81"/>
          <p:cNvSpPr/>
          <p:nvPr userDrawn="1"/>
        </p:nvSpPr>
        <p:spPr>
          <a:xfrm>
            <a:off x="260648" y="3480847"/>
            <a:ext cx="6408712" cy="1955249"/>
          </a:xfrm>
          <a:prstGeom prst="rect">
            <a:avLst/>
          </a:prstGeom>
          <a:noFill/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90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13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99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20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06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2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55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15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522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1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25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32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29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31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9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84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1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19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91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60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7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152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08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94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8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9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22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370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731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4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pic>
        <p:nvPicPr>
          <p:cNvPr id="7" name="Imagem 6"/>
          <p:cNvPicPr/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90800" cy="593090"/>
          </a:xfrm>
          <a:prstGeom prst="rect">
            <a:avLst/>
          </a:prstGeom>
        </p:spPr>
      </p:pic>
      <p:sp>
        <p:nvSpPr>
          <p:cNvPr id="8" name="Retângulo de cantos arredondados 7"/>
          <p:cNvSpPr/>
          <p:nvPr userDrawn="1"/>
        </p:nvSpPr>
        <p:spPr>
          <a:xfrm>
            <a:off x="4457700" y="10795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RELATÓRIO</a:t>
            </a:r>
            <a:r>
              <a:rPr lang="pt-BR" sz="1100" baseline="0" dirty="0" smtClean="0">
                <a:effectLst/>
                <a:ea typeface="Calibri"/>
                <a:cs typeface="Times New Roman"/>
              </a:rPr>
              <a:t> TÉCNICO – LCAC E RAC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9" name="Retângulo de cantos arredondados 8"/>
          <p:cNvSpPr/>
          <p:nvPr userDrawn="1"/>
        </p:nvSpPr>
        <p:spPr>
          <a:xfrm>
            <a:off x="4457700" y="382270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RT-NWS.E.02-REV.01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pic>
        <p:nvPicPr>
          <p:cNvPr id="10" name="Imagem 9"/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695" y="8672639"/>
            <a:ext cx="2059305" cy="483235"/>
          </a:xfrm>
          <a:prstGeom prst="rect">
            <a:avLst/>
          </a:prstGeom>
        </p:spPr>
      </p:pic>
      <p:sp>
        <p:nvSpPr>
          <p:cNvPr id="11" name="Caixa de texto 40"/>
          <p:cNvSpPr txBox="1">
            <a:spLocks noChangeArrowheads="1"/>
          </p:cNvSpPr>
          <p:nvPr userDrawn="1"/>
        </p:nvSpPr>
        <p:spPr bwMode="auto">
          <a:xfrm>
            <a:off x="-1" y="8949881"/>
            <a:ext cx="6181125" cy="194119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2860040" algn="ctr"/>
                <a:tab pos="6566535" algn="r"/>
              </a:tabLst>
            </a:pPr>
            <a:r>
              <a:rPr lang="pt-BR" sz="600" i="1" kern="1200">
                <a:solidFill>
                  <a:srgbClr val="808080"/>
                </a:solidFill>
                <a:effectLst/>
                <a:latin typeface="Arial"/>
                <a:ea typeface="Calibri"/>
                <a:cs typeface="Times New Roman"/>
              </a:rPr>
              <a:t>Av. Dr. Chucri Zaidan, 940 - 3º Andar - Vila Cordeiro - São Paulo – SP – CEP: 04583-110</a:t>
            </a:r>
            <a:endParaRPr lang="en-US" sz="110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Caixa de texto 43"/>
          <p:cNvSpPr txBox="1"/>
          <p:nvPr userDrawn="1"/>
        </p:nvSpPr>
        <p:spPr>
          <a:xfrm>
            <a:off x="0" y="623661"/>
            <a:ext cx="4005064" cy="13144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 smtClean="0">
                <a:effectLst/>
                <a:latin typeface="Arial"/>
                <a:ea typeface="Calibri"/>
                <a:cs typeface="Times New Roman"/>
              </a:rPr>
              <a:t>Este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 Relatório é valido a partir de 01/10/2021 cancelando os anteriores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4" name="Caixa de texto 13"/>
          <p:cNvSpPr txBox="1"/>
          <p:nvPr userDrawn="1"/>
        </p:nvSpPr>
        <p:spPr>
          <a:xfrm>
            <a:off x="0" y="755104"/>
            <a:ext cx="3805555" cy="21336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>
                <a:effectLst/>
                <a:latin typeface="Arial"/>
                <a:ea typeface="Calibri"/>
                <a:cs typeface="Times New Roman"/>
              </a:rPr>
              <a:t>Abrangência</a:t>
            </a:r>
            <a:r>
              <a:rPr lang="pt-BR" sz="700" i="1" dirty="0">
                <a:effectLst/>
                <a:latin typeface="Arial"/>
                <a:ea typeface="Calibri"/>
                <a:cs typeface="Times New Roman"/>
              </a:rPr>
              <a:t>: Rede </a:t>
            </a:r>
            <a:r>
              <a:rPr lang="pt-BR" sz="700" i="1" dirty="0" smtClean="0">
                <a:effectLst/>
                <a:latin typeface="Arial"/>
                <a:ea typeface="Calibri"/>
                <a:cs typeface="Times New Roman"/>
              </a:rPr>
              <a:t>Credenciada / Distribuidores e Revenda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114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51" r:id="rId4"/>
    <p:sldLayoutId id="214748366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03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B64FF-580D-4F32-95EC-CC914E864EC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26A2A-0B9B-438C-9E8A-326A503B8ED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03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E185C-0CFF-4A6E-B678-29CE13560A86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8B0CB-B565-4A93-9F11-EFFDBC7518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3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033588" y="300037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026940" y="3381772"/>
            <a:ext cx="183410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033588" y="3779912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033588" y="418814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026940" y="4576763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026940" y="522007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026940" y="559916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026940" y="6012160"/>
            <a:ext cx="255418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134260" y="5993110"/>
            <a:ext cx="146309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026940" y="641245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2026940" y="680424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581150" y="7452320"/>
            <a:ext cx="206387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4581128" y="7458670"/>
            <a:ext cx="201622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581150" y="7969250"/>
            <a:ext cx="1559818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586734" y="7969250"/>
            <a:ext cx="2010618" cy="3090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581150" y="8356674"/>
            <a:ext cx="2063874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0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3429000" y="1835696"/>
            <a:ext cx="3168352" cy="2376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933056" y="6444208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5661248" y="6448752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20" name="Retângulo 19"/>
          <p:cNvSpPr/>
          <p:nvPr/>
        </p:nvSpPr>
        <p:spPr>
          <a:xfrm>
            <a:off x="3429000" y="5148064"/>
            <a:ext cx="1296144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5085184" y="5148064"/>
            <a:ext cx="1296144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3356992" y="6876256"/>
            <a:ext cx="1368152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5013176" y="6876256"/>
            <a:ext cx="1368152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8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60648" y="1606972"/>
            <a:ext cx="194421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505596" y="1606972"/>
            <a:ext cx="409175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60648" y="2327052"/>
            <a:ext cx="6336704" cy="8767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60648" y="3491880"/>
            <a:ext cx="6336704" cy="5040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32656" y="6084168"/>
            <a:ext cx="3024336" cy="244827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3429000" y="6084168"/>
            <a:ext cx="3024336" cy="244827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 aqui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37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3140967" y="4526280"/>
            <a:ext cx="3489511" cy="17019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</a:rPr>
              <a:t>Insira a fotos com os valores medidos 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068960" y="6974552"/>
            <a:ext cx="3489511" cy="17019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</a:rPr>
              <a:t>Insira a fotos com os valores medidos </a:t>
            </a:r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49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60649" y="1619672"/>
            <a:ext cx="3168352" cy="45365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 fotos Frente da placa  (lado dos componentes)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429001" y="1619672"/>
            <a:ext cx="3208018" cy="45334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Insira a fotos </a:t>
            </a:r>
            <a:r>
              <a:rPr lang="pt-BR" dirty="0" smtClean="0">
                <a:solidFill>
                  <a:schemeClr val="tx1"/>
                </a:solidFill>
              </a:rPr>
              <a:t>verso </a:t>
            </a:r>
            <a:r>
              <a:rPr lang="pt-BR" dirty="0">
                <a:solidFill>
                  <a:schemeClr val="tx1"/>
                </a:solidFill>
              </a:rPr>
              <a:t>da placa  (lado </a:t>
            </a:r>
            <a:r>
              <a:rPr lang="pt-BR" dirty="0" smtClean="0">
                <a:solidFill>
                  <a:schemeClr val="tx1"/>
                </a:solidFill>
              </a:rPr>
              <a:t>das  ponto de solda)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64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110</Words>
  <Application>Microsoft Office PowerPoint</Application>
  <PresentationFormat>Apresentação na tela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맑은 고딕</vt:lpstr>
      <vt:lpstr>Arial</vt:lpstr>
      <vt:lpstr>Calibri</vt:lpstr>
      <vt:lpstr>HY헤드라인M</vt:lpstr>
      <vt:lpstr>Shonar Bangla</vt:lpstr>
      <vt:lpstr>Times New Roman</vt:lpstr>
      <vt:lpstr>Verdana</vt:lpstr>
      <vt:lpstr>Tema do Office</vt:lpstr>
      <vt:lpstr>1_Personalizar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avieira.souza</dc:creator>
  <cp:lastModifiedBy>lg nws/LGESP SAC BS AE SVC Part(lg.nws@lgepartner.com)</cp:lastModifiedBy>
  <cp:revision>74</cp:revision>
  <cp:lastPrinted>2019-09-28T19:37:52Z</cp:lastPrinted>
  <dcterms:created xsi:type="dcterms:W3CDTF">2019-09-28T11:59:37Z</dcterms:created>
  <dcterms:modified xsi:type="dcterms:W3CDTF">2021-07-05T21:52:43Z</dcterms:modified>
</cp:coreProperties>
</file>