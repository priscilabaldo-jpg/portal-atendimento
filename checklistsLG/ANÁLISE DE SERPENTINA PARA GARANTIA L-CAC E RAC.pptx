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</p:sldMasterIdLst>
  <p:sldIdLst>
    <p:sldId id="256" r:id="rId4"/>
    <p:sldId id="261" r:id="rId5"/>
    <p:sldId id="257" r:id="rId6"/>
    <p:sldId id="258" r:id="rId7"/>
    <p:sldId id="260" r:id="rId8"/>
  </p:sldIdLst>
  <p:sldSz cx="6858000" cy="9144000" type="screen4x3"/>
  <p:notesSz cx="6669088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964D743-772E-4BD7-8514-ABA6EC1CBD20}">
          <p14:sldIdLst>
            <p14:sldId id="256"/>
            <p14:sldId id="261"/>
            <p14:sldId id="257"/>
            <p14:sldId id="258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94660"/>
  </p:normalViewPr>
  <p:slideViewPr>
    <p:cSldViewPr>
      <p:cViewPr varScale="1">
        <p:scale>
          <a:sx n="83" d="100"/>
          <a:sy n="83" d="100"/>
        </p:scale>
        <p:origin x="3156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openxmlformats.org/officeDocument/2006/relationships/image" Target="../media/image9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9"/>
          <p:cNvSpPr/>
          <p:nvPr userDrawn="1"/>
        </p:nvSpPr>
        <p:spPr>
          <a:xfrm>
            <a:off x="0" y="999801"/>
            <a:ext cx="6866256" cy="3143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200" b="1" dirty="0" smtClean="0">
                <a:effectLst/>
                <a:latin typeface="Arial"/>
                <a:ea typeface="Calibri"/>
                <a:cs typeface="Times New Roman"/>
              </a:rPr>
              <a:t>RELATÓRIO TÉCNICO – ANÁLISE</a:t>
            </a:r>
            <a:r>
              <a:rPr lang="pt-BR" sz="1200" b="1" baseline="0" dirty="0" smtClean="0">
                <a:effectLst/>
                <a:latin typeface="Arial"/>
                <a:ea typeface="Calibri"/>
                <a:cs typeface="Times New Roman"/>
              </a:rPr>
              <a:t> DE “SERPENTINA” PARA GARANTIA LCAC E RAC 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1" name="Retângulo de cantos arredondados 10"/>
          <p:cNvSpPr/>
          <p:nvPr userDrawn="1"/>
        </p:nvSpPr>
        <p:spPr>
          <a:xfrm>
            <a:off x="0" y="1362386"/>
            <a:ext cx="3341053" cy="2857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000" b="1" dirty="0">
                <a:effectLst/>
                <a:latin typeface="Arial"/>
                <a:ea typeface="Calibri"/>
                <a:cs typeface="Times New Roman"/>
              </a:rPr>
              <a:t>CANAL:  </a:t>
            </a:r>
            <a:r>
              <a:rPr lang="pt-BR" sz="1000" b="1" dirty="0" smtClean="0">
                <a:effectLst/>
                <a:latin typeface="Arial"/>
                <a:ea typeface="Calibri"/>
                <a:cs typeface="Times New Roman"/>
              </a:rPr>
              <a:t>ASD /</a:t>
            </a:r>
            <a:r>
              <a:rPr lang="pt-BR" sz="1000" b="1" baseline="0" dirty="0" smtClean="0">
                <a:effectLst/>
                <a:latin typeface="Arial"/>
                <a:ea typeface="Calibri"/>
                <a:cs typeface="Times New Roman"/>
              </a:rPr>
              <a:t> </a:t>
            </a:r>
            <a:r>
              <a:rPr lang="pt-BR" sz="1000" b="1" baseline="0" dirty="0" smtClean="0">
                <a:effectLst/>
                <a:latin typeface="Arial"/>
                <a:ea typeface="Calibri"/>
                <a:cs typeface="Times New Roman"/>
              </a:rPr>
              <a:t>ASI – Distribuidor / Revenda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2" name="Retângulo de cantos arredondados 11"/>
          <p:cNvSpPr/>
          <p:nvPr userDrawn="1"/>
        </p:nvSpPr>
        <p:spPr>
          <a:xfrm>
            <a:off x="3385503" y="1362386"/>
            <a:ext cx="3472497" cy="2857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000" b="1" dirty="0">
                <a:effectLst/>
                <a:latin typeface="Arial"/>
                <a:ea typeface="Calibri"/>
                <a:cs typeface="Times New Roman"/>
              </a:rPr>
              <a:t>DATA APLICADA: </a:t>
            </a:r>
            <a:r>
              <a:rPr lang="pt-BR" sz="1000" b="1" dirty="0" smtClean="0">
                <a:effectLst/>
                <a:latin typeface="Arial"/>
                <a:ea typeface="Calibri"/>
                <a:cs typeface="Times New Roman"/>
              </a:rPr>
              <a:t>05/07/2021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30" name="Retângulo 29"/>
          <p:cNvSpPr/>
          <p:nvPr userDrawn="1"/>
        </p:nvSpPr>
        <p:spPr>
          <a:xfrm>
            <a:off x="217714" y="1778769"/>
            <a:ext cx="6451646" cy="888232"/>
          </a:xfrm>
          <a:prstGeom prst="rect">
            <a:avLst/>
          </a:prstGeom>
          <a:solidFill>
            <a:srgbClr val="FFFF00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CaixaDeTexto 30"/>
          <p:cNvSpPr txBox="1"/>
          <p:nvPr userDrawn="1"/>
        </p:nvSpPr>
        <p:spPr>
          <a:xfrm>
            <a:off x="291859" y="1867668"/>
            <a:ext cx="6305494" cy="738664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tabLst>
                <a:tab pos="0" algn="l"/>
              </a:tabLst>
            </a:pPr>
            <a: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	</a:t>
            </a:r>
            <a:b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</a:br>
            <a: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Pa</a:t>
            </a:r>
            <a:r>
              <a:rPr lang="pt-BR" sz="1400" b="1" baseline="0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ra a solicitação da Garantia é obrigatório o preenchimento completo deste relatório . O mesmo auxilia a análise do problema.</a:t>
            </a:r>
            <a:endParaRPr lang="pt-BR" sz="1400" b="1" dirty="0" smtClean="0">
              <a:latin typeface="Calibri" panose="020F0502020204030204" pitchFamily="34" charset="0"/>
              <a:ea typeface="Verdana" pitchFamily="34" charset="0"/>
              <a:cs typeface="Shonar Bangla" panose="020B0502040204020203" pitchFamily="34" charset="0"/>
            </a:endParaRPr>
          </a:p>
        </p:txBody>
      </p:sp>
      <p:sp>
        <p:nvSpPr>
          <p:cNvPr id="32" name="Retângulo 31"/>
          <p:cNvSpPr/>
          <p:nvPr userDrawn="1"/>
        </p:nvSpPr>
        <p:spPr>
          <a:xfrm>
            <a:off x="291858" y="1842621"/>
            <a:ext cx="6305495" cy="2256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rgbClr val="FFFF00"/>
                </a:solidFill>
              </a:rPr>
              <a:t>ATENÇÃO</a:t>
            </a:r>
            <a:endParaRPr lang="en-US" sz="1400" b="1" dirty="0">
              <a:solidFill>
                <a:srgbClr val="FFFF00"/>
              </a:solidFill>
            </a:endParaRPr>
          </a:p>
        </p:txBody>
      </p:sp>
      <p:sp>
        <p:nvSpPr>
          <p:cNvPr id="44" name="CaixaDeTexto 43"/>
          <p:cNvSpPr txBox="1"/>
          <p:nvPr userDrawn="1"/>
        </p:nvSpPr>
        <p:spPr>
          <a:xfrm>
            <a:off x="306006" y="2721564"/>
            <a:ext cx="314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DA REVENDA E DO INSTALADOR</a:t>
            </a:r>
            <a:endParaRPr lang="en-US" sz="1400" b="1" dirty="0"/>
          </a:p>
        </p:txBody>
      </p:sp>
      <p:sp>
        <p:nvSpPr>
          <p:cNvPr id="45" name="CaixaDeTexto 44"/>
          <p:cNvSpPr txBox="1"/>
          <p:nvPr userDrawn="1"/>
        </p:nvSpPr>
        <p:spPr>
          <a:xfrm>
            <a:off x="141537" y="3004866"/>
            <a:ext cx="172021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Nome</a:t>
            </a:r>
            <a:r>
              <a:rPr lang="pt-BR" sz="1200" b="0" baseline="0" dirty="0" smtClean="0"/>
              <a:t> da Revenda        :</a:t>
            </a:r>
            <a:endParaRPr lang="en-US" sz="1200" b="0" dirty="0"/>
          </a:p>
        </p:txBody>
      </p:sp>
      <p:sp>
        <p:nvSpPr>
          <p:cNvPr id="49" name="CaixaDeTexto 48"/>
          <p:cNvSpPr txBox="1"/>
          <p:nvPr userDrawn="1"/>
        </p:nvSpPr>
        <p:spPr>
          <a:xfrm>
            <a:off x="122487" y="3392266"/>
            <a:ext cx="172996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BR da ASD</a:t>
            </a:r>
            <a:r>
              <a:rPr lang="pt-BR" sz="1200" b="0" baseline="0" dirty="0" smtClean="0"/>
              <a:t> / ASI             :</a:t>
            </a:r>
            <a:endParaRPr lang="en-US" sz="1200" b="0" dirty="0"/>
          </a:p>
        </p:txBody>
      </p:sp>
      <p:sp>
        <p:nvSpPr>
          <p:cNvPr id="50" name="CaixaDeTexto 49"/>
          <p:cNvSpPr txBox="1"/>
          <p:nvPr userDrawn="1"/>
        </p:nvSpPr>
        <p:spPr>
          <a:xfrm>
            <a:off x="133205" y="3787131"/>
            <a:ext cx="17136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Dados</a:t>
            </a:r>
            <a:r>
              <a:rPr lang="pt-BR" sz="1200" b="0" baseline="0" dirty="0" smtClean="0"/>
              <a:t> da Instaladora   :</a:t>
            </a:r>
            <a:endParaRPr lang="en-US" sz="1200" b="0" dirty="0"/>
          </a:p>
        </p:txBody>
      </p:sp>
      <p:sp>
        <p:nvSpPr>
          <p:cNvPr id="51" name="CaixaDeTexto 50"/>
          <p:cNvSpPr txBox="1"/>
          <p:nvPr userDrawn="1"/>
        </p:nvSpPr>
        <p:spPr>
          <a:xfrm>
            <a:off x="128336" y="4181996"/>
            <a:ext cx="17568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Dados</a:t>
            </a:r>
            <a:r>
              <a:rPr lang="pt-BR" sz="1200" b="0" baseline="0" dirty="0" smtClean="0"/>
              <a:t> do Instalador     :</a:t>
            </a:r>
            <a:endParaRPr lang="en-US" sz="1200" b="0" dirty="0"/>
          </a:p>
        </p:txBody>
      </p:sp>
      <p:sp>
        <p:nvSpPr>
          <p:cNvPr id="52" name="CaixaDeTexto 51"/>
          <p:cNvSpPr txBox="1"/>
          <p:nvPr userDrawn="1"/>
        </p:nvSpPr>
        <p:spPr>
          <a:xfrm>
            <a:off x="126157" y="4590600"/>
            <a:ext cx="172098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Telefone</a:t>
            </a:r>
            <a:r>
              <a:rPr lang="pt-BR" sz="1200" b="0" baseline="0" dirty="0" smtClean="0"/>
              <a:t> do Instalador :</a:t>
            </a:r>
            <a:endParaRPr lang="en-US" sz="1200" b="0" dirty="0"/>
          </a:p>
        </p:txBody>
      </p:sp>
      <p:sp>
        <p:nvSpPr>
          <p:cNvPr id="53" name="Retângulo 52"/>
          <p:cNvSpPr/>
          <p:nvPr userDrawn="1"/>
        </p:nvSpPr>
        <p:spPr>
          <a:xfrm>
            <a:off x="2028591" y="3003375"/>
            <a:ext cx="4568761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4" name="Retângulo 53"/>
          <p:cNvSpPr/>
          <p:nvPr userDrawn="1"/>
        </p:nvSpPr>
        <p:spPr>
          <a:xfrm>
            <a:off x="2015051" y="3383894"/>
            <a:ext cx="1845998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Retângulo 54"/>
          <p:cNvSpPr/>
          <p:nvPr userDrawn="1"/>
        </p:nvSpPr>
        <p:spPr>
          <a:xfrm>
            <a:off x="2028592" y="3787454"/>
            <a:ext cx="456876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‘</a:t>
            </a:r>
            <a:endParaRPr lang="en-US" sz="1200" dirty="0"/>
          </a:p>
        </p:txBody>
      </p:sp>
      <p:sp>
        <p:nvSpPr>
          <p:cNvPr id="56" name="Retângulo 55"/>
          <p:cNvSpPr/>
          <p:nvPr userDrawn="1"/>
        </p:nvSpPr>
        <p:spPr>
          <a:xfrm>
            <a:off x="2028191" y="4194179"/>
            <a:ext cx="4569161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7" name="Retângulo 56"/>
          <p:cNvSpPr/>
          <p:nvPr userDrawn="1"/>
        </p:nvSpPr>
        <p:spPr>
          <a:xfrm>
            <a:off x="2028592" y="4592148"/>
            <a:ext cx="456876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8" name="CaixaDeTexto 57"/>
          <p:cNvSpPr txBox="1"/>
          <p:nvPr userDrawn="1"/>
        </p:nvSpPr>
        <p:spPr>
          <a:xfrm>
            <a:off x="303021" y="4947323"/>
            <a:ext cx="168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DO</a:t>
            </a:r>
            <a:r>
              <a:rPr lang="pt-BR" sz="1400" b="1" baseline="0" dirty="0" smtClean="0"/>
              <a:t> CLIENTE </a:t>
            </a:r>
            <a:endParaRPr lang="en-US" sz="1400" b="1" dirty="0"/>
          </a:p>
        </p:txBody>
      </p:sp>
      <p:sp>
        <p:nvSpPr>
          <p:cNvPr id="59" name="CaixaDeTexto 58"/>
          <p:cNvSpPr txBox="1"/>
          <p:nvPr userDrawn="1"/>
        </p:nvSpPr>
        <p:spPr>
          <a:xfrm>
            <a:off x="178369" y="5230698"/>
            <a:ext cx="18735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dirty="0" smtClean="0"/>
              <a:t> Nome</a:t>
            </a:r>
            <a:r>
              <a:rPr lang="pt-BR" sz="1200" b="0" baseline="0" dirty="0" smtClean="0"/>
              <a:t> do Cliente          :</a:t>
            </a:r>
            <a:endParaRPr lang="en-US" sz="1200" b="0" dirty="0"/>
          </a:p>
        </p:txBody>
      </p:sp>
      <p:sp>
        <p:nvSpPr>
          <p:cNvPr id="60" name="CaixaDeTexto 59"/>
          <p:cNvSpPr txBox="1"/>
          <p:nvPr userDrawn="1"/>
        </p:nvSpPr>
        <p:spPr>
          <a:xfrm>
            <a:off x="225343" y="5618098"/>
            <a:ext cx="1620957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Endereço do Cliente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61" name="CaixaDeTexto 60"/>
          <p:cNvSpPr txBox="1"/>
          <p:nvPr userDrawn="1"/>
        </p:nvSpPr>
        <p:spPr>
          <a:xfrm>
            <a:off x="194264" y="6012963"/>
            <a:ext cx="164532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Complemento           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62" name="CaixaDeTexto 61"/>
          <p:cNvSpPr txBox="1"/>
          <p:nvPr userDrawn="1"/>
        </p:nvSpPr>
        <p:spPr>
          <a:xfrm>
            <a:off x="237251" y="6816432"/>
            <a:ext cx="160127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Telefone</a:t>
            </a:r>
            <a:r>
              <a:rPr lang="pt-BR" sz="1200" b="0" baseline="0" dirty="0" smtClean="0"/>
              <a:t> do Cliente     :</a:t>
            </a:r>
            <a:endParaRPr lang="en-US" sz="1200" b="0" dirty="0"/>
          </a:p>
        </p:txBody>
      </p:sp>
      <p:sp>
        <p:nvSpPr>
          <p:cNvPr id="63" name="Retângulo 62"/>
          <p:cNvSpPr/>
          <p:nvPr userDrawn="1"/>
        </p:nvSpPr>
        <p:spPr>
          <a:xfrm>
            <a:off x="2015050" y="5229207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Retângulo 63"/>
          <p:cNvSpPr/>
          <p:nvPr userDrawn="1"/>
        </p:nvSpPr>
        <p:spPr>
          <a:xfrm>
            <a:off x="2015050" y="5609726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5" name="Retângulo 64"/>
          <p:cNvSpPr/>
          <p:nvPr userDrawn="1"/>
        </p:nvSpPr>
        <p:spPr>
          <a:xfrm>
            <a:off x="2015049" y="6013286"/>
            <a:ext cx="2566079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‘</a:t>
            </a:r>
            <a:endParaRPr lang="en-US" sz="1200" dirty="0"/>
          </a:p>
        </p:txBody>
      </p:sp>
      <p:sp>
        <p:nvSpPr>
          <p:cNvPr id="66" name="Retângulo 65"/>
          <p:cNvSpPr/>
          <p:nvPr userDrawn="1"/>
        </p:nvSpPr>
        <p:spPr>
          <a:xfrm>
            <a:off x="2015049" y="6420011"/>
            <a:ext cx="458230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5" name="Retângulo 74"/>
          <p:cNvSpPr/>
          <p:nvPr userDrawn="1"/>
        </p:nvSpPr>
        <p:spPr>
          <a:xfrm>
            <a:off x="2015050" y="6817980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6" name="CaixaDeTexto 75"/>
          <p:cNvSpPr txBox="1"/>
          <p:nvPr userDrawn="1"/>
        </p:nvSpPr>
        <p:spPr>
          <a:xfrm>
            <a:off x="4589682" y="6009182"/>
            <a:ext cx="48244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CEP.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80" name="Retângulo 79"/>
          <p:cNvSpPr/>
          <p:nvPr userDrawn="1"/>
        </p:nvSpPr>
        <p:spPr>
          <a:xfrm>
            <a:off x="5124938" y="5995468"/>
            <a:ext cx="147241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CaixaDeTexto 80"/>
          <p:cNvSpPr txBox="1"/>
          <p:nvPr userDrawn="1"/>
        </p:nvSpPr>
        <p:spPr>
          <a:xfrm>
            <a:off x="213257" y="6407827"/>
            <a:ext cx="162698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Cidade / Estado            :</a:t>
            </a:r>
            <a:endParaRPr lang="en-US" sz="1200" b="0" dirty="0"/>
          </a:p>
        </p:txBody>
      </p:sp>
      <p:sp>
        <p:nvSpPr>
          <p:cNvPr id="82" name="CaixaDeTexto 81"/>
          <p:cNvSpPr txBox="1"/>
          <p:nvPr userDrawn="1"/>
        </p:nvSpPr>
        <p:spPr>
          <a:xfrm>
            <a:off x="304069" y="7164288"/>
            <a:ext cx="1792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DO</a:t>
            </a:r>
            <a:r>
              <a:rPr lang="pt-BR" sz="1400" b="1" baseline="0" dirty="0" smtClean="0"/>
              <a:t> PRODUTO</a:t>
            </a:r>
            <a:endParaRPr lang="en-US" sz="1400" b="1" dirty="0"/>
          </a:p>
        </p:txBody>
      </p:sp>
      <p:sp>
        <p:nvSpPr>
          <p:cNvPr id="83" name="CaixaDeTexto 82"/>
          <p:cNvSpPr txBox="1"/>
          <p:nvPr userDrawn="1"/>
        </p:nvSpPr>
        <p:spPr>
          <a:xfrm>
            <a:off x="220321" y="7469074"/>
            <a:ext cx="1365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dirty="0" smtClean="0"/>
              <a:t>Mod. do Evap.</a:t>
            </a:r>
            <a:r>
              <a:rPr lang="pt-BR" sz="1200" b="0" baseline="0" dirty="0" smtClean="0"/>
              <a:t> ou </a:t>
            </a:r>
            <a:r>
              <a:rPr lang="pt-BR" sz="1200" b="0" dirty="0" smtClean="0"/>
              <a:t>Condensador       :</a:t>
            </a:r>
            <a:endParaRPr lang="en-US" sz="1200" b="0" dirty="0"/>
          </a:p>
        </p:txBody>
      </p:sp>
      <p:sp>
        <p:nvSpPr>
          <p:cNvPr id="84" name="CaixaDeTexto 83"/>
          <p:cNvSpPr txBox="1"/>
          <p:nvPr userDrawn="1"/>
        </p:nvSpPr>
        <p:spPr>
          <a:xfrm>
            <a:off x="3645024" y="7468605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Número </a:t>
            </a:r>
          </a:p>
          <a:p>
            <a:r>
              <a:rPr lang="pt-BR" sz="1200" b="0" dirty="0" smtClean="0"/>
              <a:t>de Série   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85" name="CaixaDeTexto 84"/>
          <p:cNvSpPr txBox="1"/>
          <p:nvPr userDrawn="1"/>
        </p:nvSpPr>
        <p:spPr>
          <a:xfrm>
            <a:off x="208532" y="7976369"/>
            <a:ext cx="140775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Data</a:t>
            </a:r>
            <a:r>
              <a:rPr lang="pt-BR" sz="1200" b="0" baseline="0" dirty="0" smtClean="0"/>
              <a:t> da Compra     :</a:t>
            </a:r>
            <a:endParaRPr lang="en-US" sz="1200" b="0" dirty="0"/>
          </a:p>
        </p:txBody>
      </p:sp>
      <p:sp>
        <p:nvSpPr>
          <p:cNvPr id="86" name="Retângulo 85"/>
          <p:cNvSpPr/>
          <p:nvPr userDrawn="1"/>
        </p:nvSpPr>
        <p:spPr>
          <a:xfrm>
            <a:off x="1586154" y="7456713"/>
            <a:ext cx="2058870" cy="463861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tângulo 86"/>
          <p:cNvSpPr/>
          <p:nvPr userDrawn="1"/>
        </p:nvSpPr>
        <p:spPr>
          <a:xfrm>
            <a:off x="4581126" y="7474643"/>
            <a:ext cx="2016226" cy="46231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tângulo 87"/>
          <p:cNvSpPr/>
          <p:nvPr userDrawn="1"/>
        </p:nvSpPr>
        <p:spPr>
          <a:xfrm>
            <a:off x="1586154" y="7993958"/>
            <a:ext cx="155481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" name="Retângulo 88"/>
          <p:cNvSpPr/>
          <p:nvPr userDrawn="1"/>
        </p:nvSpPr>
        <p:spPr>
          <a:xfrm>
            <a:off x="1586155" y="8361620"/>
            <a:ext cx="205887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CaixaDeTexto 89"/>
          <p:cNvSpPr txBox="1"/>
          <p:nvPr userDrawn="1"/>
        </p:nvSpPr>
        <p:spPr>
          <a:xfrm>
            <a:off x="201637" y="8354736"/>
            <a:ext cx="140140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Nº da Nota Fiscal   :</a:t>
            </a:r>
            <a:endParaRPr lang="en-US" sz="1200" b="0" dirty="0"/>
          </a:p>
        </p:txBody>
      </p:sp>
      <p:sp>
        <p:nvSpPr>
          <p:cNvPr id="91" name="CaixaDeTexto 90"/>
          <p:cNvSpPr txBox="1"/>
          <p:nvPr userDrawn="1"/>
        </p:nvSpPr>
        <p:spPr>
          <a:xfrm>
            <a:off x="3095345" y="7998260"/>
            <a:ext cx="15118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Data</a:t>
            </a:r>
            <a:r>
              <a:rPr lang="pt-BR" sz="1200" b="0" baseline="0" dirty="0" smtClean="0"/>
              <a:t> da Instalação    :</a:t>
            </a:r>
            <a:endParaRPr lang="en-US" sz="1200" b="0" dirty="0"/>
          </a:p>
        </p:txBody>
      </p:sp>
      <p:sp>
        <p:nvSpPr>
          <p:cNvPr id="92" name="Retângulo 91"/>
          <p:cNvSpPr/>
          <p:nvPr userDrawn="1"/>
        </p:nvSpPr>
        <p:spPr>
          <a:xfrm>
            <a:off x="4581127" y="7983191"/>
            <a:ext cx="2016225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tângulo de cantos arredondados 92"/>
          <p:cNvSpPr/>
          <p:nvPr userDrawn="1"/>
        </p:nvSpPr>
        <p:spPr>
          <a:xfrm>
            <a:off x="217714" y="2965275"/>
            <a:ext cx="6451646" cy="198092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tângulo de cantos arredondados 93"/>
          <p:cNvSpPr/>
          <p:nvPr userDrawn="1"/>
        </p:nvSpPr>
        <p:spPr>
          <a:xfrm>
            <a:off x="229099" y="5194272"/>
            <a:ext cx="6451646" cy="198092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tângulo de cantos arredondados 94"/>
          <p:cNvSpPr/>
          <p:nvPr userDrawn="1"/>
        </p:nvSpPr>
        <p:spPr>
          <a:xfrm>
            <a:off x="229099" y="7427028"/>
            <a:ext cx="6451646" cy="126873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1/4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47" name="CaixaDeTexto 46"/>
          <p:cNvSpPr txBox="1"/>
          <p:nvPr userDrawn="1"/>
        </p:nvSpPr>
        <p:spPr>
          <a:xfrm>
            <a:off x="4075303" y="3400411"/>
            <a:ext cx="252537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</a:t>
            </a:r>
            <a:r>
              <a:rPr lang="pt-BR" sz="1200" b="0" dirty="0" smtClean="0"/>
              <a:t>Código BR do</a:t>
            </a:r>
            <a:r>
              <a:rPr lang="pt-BR" sz="1200" b="0" baseline="0" dirty="0" smtClean="0"/>
              <a:t> Distribuidor / Revenda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41162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141537" y="89959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 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sp>
        <p:nvSpPr>
          <p:cNvPr id="8" name="CaixaDeTexto 7"/>
          <p:cNvSpPr txBox="1"/>
          <p:nvPr userDrawn="1"/>
        </p:nvSpPr>
        <p:spPr>
          <a:xfrm>
            <a:off x="160588" y="1314934"/>
            <a:ext cx="305212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baseline="0" dirty="0" smtClean="0"/>
              <a:t>1.1. Local da Instalação – Siga as distâncias conforme indicado no manual de instalação  </a:t>
            </a:r>
            <a:endParaRPr lang="en-US" sz="1200" b="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260649" y="1823200"/>
            <a:ext cx="2952064" cy="2407809"/>
          </a:xfrm>
          <a:prstGeom prst="rect">
            <a:avLst/>
          </a:prstGeom>
          <a:noFill/>
          <a:ln w="444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CaixaDeTexto 13"/>
          <p:cNvSpPr txBox="1"/>
          <p:nvPr userDrawn="1"/>
        </p:nvSpPr>
        <p:spPr>
          <a:xfrm>
            <a:off x="3443723" y="1324676"/>
            <a:ext cx="34142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baseline="0" dirty="0" smtClean="0"/>
              <a:t>1.2 Instalação – Anexar umas fotos da instalação unidade interna/externa conforme exemplo ao lado </a:t>
            </a:r>
            <a:endParaRPr lang="en-US" sz="1200" b="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443722" y="1823201"/>
            <a:ext cx="3153629" cy="2407808"/>
          </a:xfrm>
          <a:prstGeom prst="rect">
            <a:avLst/>
          </a:prstGeom>
          <a:noFill/>
          <a:ln w="444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1030" name="Picture 6" descr="Resultado de imagem para foto instalação split L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5" r="24416"/>
          <a:stretch/>
        </p:blipFill>
        <p:spPr bwMode="auto">
          <a:xfrm>
            <a:off x="303723" y="2689632"/>
            <a:ext cx="1051146" cy="151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84784" y="2732893"/>
            <a:ext cx="1699353" cy="146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5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2/5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47" name="CaixaDeTexto 46"/>
          <p:cNvSpPr txBox="1"/>
          <p:nvPr userDrawn="1"/>
        </p:nvSpPr>
        <p:spPr>
          <a:xfrm>
            <a:off x="3245078" y="6391504"/>
            <a:ext cx="75884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Capacidade </a:t>
            </a:r>
          </a:p>
          <a:p>
            <a:pPr algn="ctr"/>
            <a:r>
              <a:rPr lang="pt-BR" sz="800" b="1" baseline="0" dirty="0" smtClean="0"/>
              <a:t>do Disjuntor</a:t>
            </a:r>
            <a:endParaRPr lang="en-US" sz="800" b="1" dirty="0"/>
          </a:p>
        </p:txBody>
      </p:sp>
      <p:sp>
        <p:nvSpPr>
          <p:cNvPr id="53" name="Retângulo 52"/>
          <p:cNvSpPr/>
          <p:nvPr userDrawn="1"/>
        </p:nvSpPr>
        <p:spPr>
          <a:xfrm>
            <a:off x="3371319" y="5141477"/>
            <a:ext cx="1343802" cy="129403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4" name="Retângulo 53"/>
          <p:cNvSpPr/>
          <p:nvPr userDrawn="1"/>
        </p:nvSpPr>
        <p:spPr>
          <a:xfrm>
            <a:off x="5071882" y="5138382"/>
            <a:ext cx="1343802" cy="129403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55" name="Picture 8" descr="https://encrypted-tbn0.gstatic.com/images?q=tbn:ANd9GcQJqCwyb_tu5ch_AFuDI62JyHOKC2gj3jd3A1hIpAr_IZgxC5-0jg"/>
          <p:cNvPicPr>
            <a:picLocks noChangeAspect="1" noChangeArrowheads="1"/>
          </p:cNvPicPr>
          <p:nvPr userDrawn="1"/>
        </p:nvPicPr>
        <p:blipFill rotWithShape="1">
          <a:blip r:embed="rId4" cstate="print">
            <a:lum bright="70000" contrast="-70000"/>
          </a:blip>
          <a:srcRect l="58123" t="8884" r="10530" b="19537"/>
          <a:stretch/>
        </p:blipFill>
        <p:spPr bwMode="auto">
          <a:xfrm>
            <a:off x="3407252" y="5152510"/>
            <a:ext cx="1279936" cy="1276212"/>
          </a:xfrm>
          <a:prstGeom prst="rect">
            <a:avLst/>
          </a:prstGeom>
          <a:noFill/>
        </p:spPr>
      </p:pic>
      <p:pic>
        <p:nvPicPr>
          <p:cNvPr id="56" name="Picture 36" descr="87V_01_200p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113116" y="5152510"/>
            <a:ext cx="1277168" cy="1267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Retângulo 56"/>
          <p:cNvSpPr/>
          <p:nvPr userDrawn="1"/>
        </p:nvSpPr>
        <p:spPr>
          <a:xfrm>
            <a:off x="3954969" y="6447483"/>
            <a:ext cx="760151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A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58" name="CaixaDeTexto 57"/>
          <p:cNvSpPr txBox="1"/>
          <p:nvPr userDrawn="1"/>
        </p:nvSpPr>
        <p:spPr>
          <a:xfrm>
            <a:off x="4985687" y="6376935"/>
            <a:ext cx="75884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Tensão de Alimentação</a:t>
            </a:r>
            <a:endParaRPr lang="en-US" sz="800" b="1" dirty="0"/>
          </a:p>
        </p:txBody>
      </p:sp>
      <p:sp>
        <p:nvSpPr>
          <p:cNvPr id="59" name="Retângulo 58"/>
          <p:cNvSpPr/>
          <p:nvPr userDrawn="1"/>
        </p:nvSpPr>
        <p:spPr>
          <a:xfrm>
            <a:off x="5664880" y="6442084"/>
            <a:ext cx="750804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V</a:t>
            </a:r>
            <a:endParaRPr lang="en-US" sz="900" b="1" dirty="0">
              <a:solidFill>
                <a:schemeClr val="tx1"/>
              </a:solidFill>
            </a:endParaRPr>
          </a:p>
        </p:txBody>
      </p:sp>
      <p:pic>
        <p:nvPicPr>
          <p:cNvPr id="61" name="Picture 1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645133" y="4322108"/>
            <a:ext cx="2840304" cy="751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Retângulo 62"/>
          <p:cNvSpPr/>
          <p:nvPr userDrawn="1"/>
        </p:nvSpPr>
        <p:spPr>
          <a:xfrm>
            <a:off x="4985686" y="6874074"/>
            <a:ext cx="1429997" cy="1607844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4" name="CaixaDeTexto 63"/>
          <p:cNvSpPr txBox="1"/>
          <p:nvPr userDrawn="1"/>
        </p:nvSpPr>
        <p:spPr>
          <a:xfrm>
            <a:off x="4985687" y="8481918"/>
            <a:ext cx="140842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dos cabos interligado no borne do Condensador</a:t>
            </a:r>
            <a:endParaRPr lang="en-US" sz="800" b="1" dirty="0"/>
          </a:p>
        </p:txBody>
      </p:sp>
      <p:sp>
        <p:nvSpPr>
          <p:cNvPr id="65" name="Retângulo 64"/>
          <p:cNvSpPr/>
          <p:nvPr userDrawn="1"/>
        </p:nvSpPr>
        <p:spPr>
          <a:xfrm>
            <a:off x="3343386" y="6874074"/>
            <a:ext cx="1408420" cy="1607844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6" name="CaixaDeTexto 65"/>
          <p:cNvSpPr txBox="1"/>
          <p:nvPr userDrawn="1"/>
        </p:nvSpPr>
        <p:spPr>
          <a:xfrm>
            <a:off x="3339010" y="8481918"/>
            <a:ext cx="140842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dos cabos interligado no borne do Evaporador </a:t>
            </a:r>
            <a:endParaRPr lang="en-US" sz="800" b="1" dirty="0"/>
          </a:p>
        </p:txBody>
      </p:sp>
      <p:pic>
        <p:nvPicPr>
          <p:cNvPr id="67" name="Imagem 66"/>
          <p:cNvPicPr>
            <a:picLocks noChangeAspect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319" y="7233758"/>
            <a:ext cx="1385686" cy="990314"/>
          </a:xfrm>
          <a:prstGeom prst="rect">
            <a:avLst/>
          </a:prstGeom>
        </p:spPr>
      </p:pic>
      <p:pic>
        <p:nvPicPr>
          <p:cNvPr id="68" name="Imagem 67"/>
          <p:cNvPicPr>
            <a:picLocks noChangeAspect="1"/>
          </p:cNvPicPr>
          <p:nvPr userDrawn="1"/>
        </p:nvPicPr>
        <p:blipFill rotWithShape="1"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4" t="3024" r="11356" b="5709"/>
          <a:stretch/>
        </p:blipFill>
        <p:spPr>
          <a:xfrm>
            <a:off x="5008546" y="7251912"/>
            <a:ext cx="1404598" cy="983248"/>
          </a:xfrm>
          <a:prstGeom prst="rect">
            <a:avLst/>
          </a:prstGeom>
        </p:spPr>
      </p:pic>
      <p:sp>
        <p:nvSpPr>
          <p:cNvPr id="69" name="CaixaDeTexto 68"/>
          <p:cNvSpPr txBox="1"/>
          <p:nvPr userDrawn="1"/>
        </p:nvSpPr>
        <p:spPr>
          <a:xfrm>
            <a:off x="148734" y="6536537"/>
            <a:ext cx="115212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Qual o bitola do cabo de Alimentação </a:t>
            </a:r>
            <a:endParaRPr lang="en-US" sz="800" b="1" dirty="0"/>
          </a:p>
        </p:txBody>
      </p:sp>
      <p:sp>
        <p:nvSpPr>
          <p:cNvPr id="70" name="Retângulo 69"/>
          <p:cNvSpPr/>
          <p:nvPr userDrawn="1"/>
        </p:nvSpPr>
        <p:spPr>
          <a:xfrm>
            <a:off x="1237273" y="6595336"/>
            <a:ext cx="760151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mm</a:t>
            </a:r>
            <a:endParaRPr lang="en-US" sz="900" b="1" dirty="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772815" y="1835696"/>
            <a:ext cx="1400255" cy="89719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86435" y="1854502"/>
            <a:ext cx="1506195" cy="878391"/>
          </a:xfrm>
          <a:prstGeom prst="rect">
            <a:avLst/>
          </a:prstGeom>
        </p:spPr>
      </p:pic>
      <p:sp>
        <p:nvSpPr>
          <p:cNvPr id="71" name="CaixaDeTexto 70"/>
          <p:cNvSpPr txBox="1"/>
          <p:nvPr userDrawn="1"/>
        </p:nvSpPr>
        <p:spPr>
          <a:xfrm>
            <a:off x="57046" y="4283968"/>
            <a:ext cx="284026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2. Informação sobre a instalação elétrica: </a:t>
            </a:r>
            <a:endParaRPr lang="en-US" sz="1200" b="1" dirty="0"/>
          </a:p>
        </p:txBody>
      </p:sp>
      <p:sp>
        <p:nvSpPr>
          <p:cNvPr id="72" name="CaixaDeTexto 71"/>
          <p:cNvSpPr txBox="1"/>
          <p:nvPr userDrawn="1"/>
        </p:nvSpPr>
        <p:spPr>
          <a:xfrm>
            <a:off x="50696" y="4499992"/>
            <a:ext cx="350153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2.1 Qual a tensão de alimentação na Condensadora? </a:t>
            </a:r>
            <a:endParaRPr lang="en-US" sz="1200" b="0" dirty="0"/>
          </a:p>
        </p:txBody>
      </p:sp>
      <p:sp>
        <p:nvSpPr>
          <p:cNvPr id="73" name="CaixaDeTexto 72"/>
          <p:cNvSpPr txBox="1"/>
          <p:nvPr userDrawn="1"/>
        </p:nvSpPr>
        <p:spPr>
          <a:xfrm>
            <a:off x="140460" y="1119139"/>
            <a:ext cx="226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 </a:t>
            </a:r>
            <a:r>
              <a:rPr lang="pt-BR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Instalação física das unidades</a:t>
            </a:r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 rotWithShape="1">
          <a:blip r:embed="rId12"/>
          <a:srcRect t="5259" r="6248" b="243"/>
          <a:stretch/>
        </p:blipFill>
        <p:spPr>
          <a:xfrm rot="16200000">
            <a:off x="802868" y="4391488"/>
            <a:ext cx="1339480" cy="266429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 rotWithShape="1">
          <a:blip r:embed="rId13"/>
          <a:srcRect l="15112"/>
          <a:stretch/>
        </p:blipFill>
        <p:spPr>
          <a:xfrm>
            <a:off x="188640" y="7235130"/>
            <a:ext cx="1568594" cy="1657350"/>
          </a:xfrm>
          <a:prstGeom prst="rect">
            <a:avLst/>
          </a:prstGeom>
        </p:spPr>
      </p:pic>
      <p:sp>
        <p:nvSpPr>
          <p:cNvPr id="6" name="CaixaDeTexto 5"/>
          <p:cNvSpPr txBox="1"/>
          <p:nvPr userDrawn="1"/>
        </p:nvSpPr>
        <p:spPr>
          <a:xfrm>
            <a:off x="148734" y="4776991"/>
            <a:ext cx="2200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Unidade </a:t>
            </a:r>
            <a:r>
              <a:rPr lang="pt-BR" sz="1600" baseline="0" dirty="0" smtClean="0"/>
              <a:t>condensadora</a:t>
            </a:r>
            <a:endParaRPr lang="pt-BR" sz="1600" dirty="0"/>
          </a:p>
        </p:txBody>
      </p:sp>
      <p:sp>
        <p:nvSpPr>
          <p:cNvPr id="74" name="CaixaDeTexto 73"/>
          <p:cNvSpPr txBox="1"/>
          <p:nvPr userDrawn="1"/>
        </p:nvSpPr>
        <p:spPr>
          <a:xfrm>
            <a:off x="148734" y="6897742"/>
            <a:ext cx="2200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Unidade Evaporad</a:t>
            </a:r>
            <a:r>
              <a:rPr lang="pt-BR" sz="1600" baseline="0" dirty="0" smtClean="0"/>
              <a:t>ora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036779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141537" y="103163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sp>
        <p:nvSpPr>
          <p:cNvPr id="8" name="CaixaDeTexto 7"/>
          <p:cNvSpPr txBox="1"/>
          <p:nvPr userDrawn="1"/>
        </p:nvSpPr>
        <p:spPr>
          <a:xfrm>
            <a:off x="160587" y="1314934"/>
            <a:ext cx="173624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3. </a:t>
            </a:r>
            <a:r>
              <a:rPr lang="pt-BR" sz="1200" b="1" baseline="0" dirty="0" smtClean="0"/>
              <a:t>Qual o Código de Erro</a:t>
            </a:r>
            <a:endParaRPr lang="en-US" sz="1200" b="1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260648" y="1591933"/>
            <a:ext cx="1944216" cy="38777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" name="CaixaDeTexto 10"/>
          <p:cNvSpPr txBox="1"/>
          <p:nvPr userDrawn="1"/>
        </p:nvSpPr>
        <p:spPr>
          <a:xfrm>
            <a:off x="2516204" y="1314933"/>
            <a:ext cx="21369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4. </a:t>
            </a:r>
            <a:r>
              <a:rPr lang="pt-BR" sz="1200" b="1" baseline="0" dirty="0" smtClean="0"/>
              <a:t>Qual é o sintoma / Defeito? </a:t>
            </a:r>
            <a:endParaRPr lang="en-US" sz="1200" b="1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2516204" y="1591933"/>
            <a:ext cx="4081147" cy="38777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68960" y="2051720"/>
            <a:ext cx="23604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5. </a:t>
            </a:r>
            <a:r>
              <a:rPr lang="pt-BR" sz="1200" b="1" baseline="0" dirty="0" smtClean="0"/>
              <a:t>Quais Testes foram Realizados? </a:t>
            </a:r>
            <a:endParaRPr lang="en-US" sz="1200" b="1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260648" y="2313891"/>
            <a:ext cx="6336703" cy="889957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CaixaDeTexto 14"/>
          <p:cNvSpPr txBox="1"/>
          <p:nvPr userDrawn="1"/>
        </p:nvSpPr>
        <p:spPr>
          <a:xfrm>
            <a:off x="175310" y="3231175"/>
            <a:ext cx="547829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6. </a:t>
            </a:r>
            <a:r>
              <a:rPr lang="pt-BR" sz="1200" b="1" baseline="0" dirty="0" smtClean="0"/>
              <a:t>Qual Peça será solicitada em garantia?  Informe o Part Number / Código da Peça.</a:t>
            </a:r>
            <a:endParaRPr lang="en-US" sz="1200" b="1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263987" y="3478950"/>
            <a:ext cx="6333364" cy="51698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175310" y="3995936"/>
            <a:ext cx="378488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7. </a:t>
            </a:r>
            <a:r>
              <a:rPr lang="pt-BR" sz="1200" b="1" baseline="0" dirty="0" smtClean="0"/>
              <a:t>Informação </a:t>
            </a:r>
            <a:r>
              <a:rPr lang="pt-BR" sz="1200" b="1" baseline="0" dirty="0" smtClean="0"/>
              <a:t>importantes antes de solicitar a garantia: </a:t>
            </a:r>
            <a:endParaRPr lang="en-US" sz="1200" b="1" dirty="0"/>
          </a:p>
        </p:txBody>
      </p:sp>
      <p:sp>
        <p:nvSpPr>
          <p:cNvPr id="18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2/4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19" name="Imagem 18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60648" y="6444813"/>
            <a:ext cx="5123815" cy="2159635"/>
          </a:xfrm>
          <a:prstGeom prst="rect">
            <a:avLst/>
          </a:prstGeom>
        </p:spPr>
      </p:pic>
      <p:sp>
        <p:nvSpPr>
          <p:cNvPr id="20" name="CaixaDeTexto 19"/>
          <p:cNvSpPr txBox="1"/>
          <p:nvPr userDrawn="1"/>
        </p:nvSpPr>
        <p:spPr>
          <a:xfrm>
            <a:off x="260648" y="4355976"/>
            <a:ext cx="6336703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baseline="0" dirty="0" smtClean="0"/>
              <a:t>Antes de solicitar a garantia para serpentina é preciso efetuar o teste de vazamento com nitrogênio  no sistema, para certificar que o vazamento não esteja na conexões tipo flanges e porcas que interliga as unidades interna e externa. </a:t>
            </a:r>
            <a:br>
              <a:rPr lang="pt-BR" sz="1200" b="0" baseline="0" dirty="0" smtClean="0"/>
            </a:br>
            <a:r>
              <a:rPr lang="pt-BR" sz="1200" b="0" baseline="0" dirty="0" smtClean="0"/>
              <a:t>O teste de estanqueidade (vazamento) deve ser evidenciado com foto para ser inserido neste relatório, não ultrapassar a pressão de 450Psig, o qual facilmente será detectado após aplicar a espuma de sabão.</a:t>
            </a:r>
            <a:br>
              <a:rPr lang="pt-BR" sz="1200" b="0" baseline="0" dirty="0" smtClean="0"/>
            </a:br>
            <a:r>
              <a:rPr lang="pt-BR" sz="1200" b="0" baseline="0" dirty="0" smtClean="0"/>
              <a:t>Se identificado que o vazamento está nas conexões recomendamos para que seja corrigido, refazer novo teste e por fim efetuar os procedimentos de vácuo, nova carga de fluído de acordo com as recomendações de quantidade contida na etiqueta do produto e caso necessário completar a carga adicional para quando exceder o comprimento padrão.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686865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141537" y="103163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sp>
        <p:nvSpPr>
          <p:cNvPr id="24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3/4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44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72" y="1339408"/>
            <a:ext cx="2796412" cy="4659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37" y="5955232"/>
            <a:ext cx="2770247" cy="2999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7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781" y="1339408"/>
            <a:ext cx="2821437" cy="4615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722" y="5999349"/>
            <a:ext cx="2939438" cy="23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526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 userDrawn="1"/>
        </p:nvSpPr>
        <p:spPr>
          <a:xfrm>
            <a:off x="141537" y="103163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97514397"/>
              </p:ext>
            </p:extLst>
          </p:nvPr>
        </p:nvGraphicFramePr>
        <p:xfrm>
          <a:off x="260648" y="6229100"/>
          <a:ext cx="6368921" cy="4679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6242"/>
                <a:gridCol w="800946"/>
                <a:gridCol w="918680"/>
                <a:gridCol w="892517"/>
                <a:gridCol w="1105984"/>
                <a:gridCol w="1904552"/>
              </a:tblGrid>
              <a:tr h="2339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Revisão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Data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Elaborado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Revisado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Aprovado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Descrição da Alteração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</a:tr>
              <a:tr h="2339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</a:rPr>
                        <a:t>01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</a:rPr>
                        <a:t>05/07/2021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Pedro </a:t>
                      </a:r>
                      <a:r>
                        <a:rPr lang="pt-BR" sz="1000" dirty="0" err="1">
                          <a:effectLst/>
                        </a:rPr>
                        <a:t>Pasinato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Carlos</a:t>
                      </a:r>
                      <a:r>
                        <a:rPr lang="pt-BR" sz="10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Jesus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Alexandre Souza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</a:rPr>
                        <a:t>Orientação para testes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tângulo 7"/>
          <p:cNvSpPr/>
          <p:nvPr userDrawn="1"/>
        </p:nvSpPr>
        <p:spPr>
          <a:xfrm>
            <a:off x="260649" y="1619672"/>
            <a:ext cx="6368920" cy="45365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/>
          <p:cNvSpPr txBox="1"/>
          <p:nvPr userDrawn="1"/>
        </p:nvSpPr>
        <p:spPr>
          <a:xfrm>
            <a:off x="260649" y="1311895"/>
            <a:ext cx="6523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0" dirty="0" smtClean="0"/>
              <a:t>8. </a:t>
            </a:r>
            <a:r>
              <a:rPr lang="pt-BR" sz="1400" b="0" dirty="0" smtClean="0"/>
              <a:t>Foto da</a:t>
            </a:r>
            <a:r>
              <a:rPr lang="pt-BR" sz="1400" b="0" baseline="0" dirty="0" smtClean="0"/>
              <a:t> Serpentina (</a:t>
            </a:r>
            <a:r>
              <a:rPr lang="pt-BR" sz="1400" b="1" baseline="0" dirty="0" smtClean="0">
                <a:solidFill>
                  <a:srgbClr val="FF0000"/>
                </a:solidFill>
              </a:rPr>
              <a:t>Insira uma foto com possível evidência do vazamento e teste</a:t>
            </a:r>
            <a:r>
              <a:rPr lang="pt-BR" sz="1400" b="0" baseline="0" dirty="0" smtClean="0"/>
              <a:t>) </a:t>
            </a:r>
            <a:endParaRPr lang="en-US" sz="1400" b="0" dirty="0"/>
          </a:p>
        </p:txBody>
      </p:sp>
      <p:sp>
        <p:nvSpPr>
          <p:cNvPr id="11" name="Retângulo de cantos arredondados 10"/>
          <p:cNvSpPr>
            <a:spLocks noChangeArrowheads="1"/>
          </p:cNvSpPr>
          <p:nvPr userDrawn="1"/>
        </p:nvSpPr>
        <p:spPr bwMode="auto">
          <a:xfrm>
            <a:off x="332656" y="6732240"/>
            <a:ext cx="6296913" cy="1867535"/>
          </a:xfrm>
          <a:prstGeom prst="roundRect">
            <a:avLst>
              <a:gd name="adj" fmla="val 16667"/>
            </a:avLst>
          </a:prstGeom>
          <a:noFill/>
          <a:ln w="9525" algn="in">
            <a:solidFill>
              <a:srgbClr val="0C0C0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Copyright © </a:t>
            </a:r>
            <a:r>
              <a:rPr lang="pt-BR" sz="800" dirty="0" smtClean="0">
                <a:effectLst/>
                <a:latin typeface="Arial"/>
                <a:ea typeface="Calibri"/>
                <a:cs typeface="Times New Roman"/>
              </a:rPr>
              <a:t>2021 </a:t>
            </a: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por LG Electronics do Brasil Ltda.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 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Todos os direitos reservados. Nenhuma parte deste </a:t>
            </a:r>
            <a:r>
              <a:rPr lang="pt-BR" sz="800" dirty="0" smtClean="0">
                <a:effectLst/>
                <a:latin typeface="Arial"/>
                <a:ea typeface="Calibri"/>
                <a:cs typeface="Times New Roman"/>
              </a:rPr>
              <a:t>documento pode </a:t>
            </a: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ser reproduzida, por qualquer processo ou técnica, traduzido ou convertido em qualquer forma eletrônica, ou legível por qualquer meio, em parte ou no todo, sem a aprovação prévia, por escrito, sem o expresso consentimento por escrito da LG Electronics do Brasil Ltda., estando o contrafator sujeito a responder por crime de Violação de Direito Autoral, conforme o art.184 do Código Penal Brasileiro, além de responder por Perdas e Danos. Todos os logotipos e marcas utilizados neste material pertencem às suas respectivas empresas.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i="1" dirty="0">
                <a:effectLst/>
                <a:latin typeface="Arial"/>
                <a:ea typeface="Calibri"/>
                <a:cs typeface="Times New Roman"/>
              </a:rPr>
              <a:t>“As marcas registradas e os nomes comerciais citados nesta obra, mesmo que não sejam assim identificados, pertencem aos seus respectivos proprietários nos termos das leis, convenções e diretrizes nacionais e internacionais.”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4/4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7620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1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9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9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5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15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522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16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448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74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703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668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863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35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189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55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67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5052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18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94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657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88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708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729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434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713"/>
            <a:ext cx="1543050" cy="780097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713"/>
            <a:ext cx="4476750" cy="780097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0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pic>
        <p:nvPicPr>
          <p:cNvPr id="7" name="Imagem 6"/>
          <p:cNvPicPr/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90800" cy="593090"/>
          </a:xfrm>
          <a:prstGeom prst="rect">
            <a:avLst/>
          </a:prstGeom>
        </p:spPr>
      </p:pic>
      <p:sp>
        <p:nvSpPr>
          <p:cNvPr id="8" name="Retângulo de cantos arredondados 7"/>
          <p:cNvSpPr/>
          <p:nvPr userDrawn="1"/>
        </p:nvSpPr>
        <p:spPr>
          <a:xfrm>
            <a:off x="4457700" y="10795"/>
            <a:ext cx="2400300" cy="285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100" dirty="0" smtClean="0">
                <a:effectLst/>
                <a:ea typeface="Calibri"/>
                <a:cs typeface="Times New Roman"/>
              </a:rPr>
              <a:t>RELATÓRIO</a:t>
            </a:r>
            <a:r>
              <a:rPr lang="pt-BR" sz="1100" baseline="0" dirty="0" smtClean="0">
                <a:effectLst/>
                <a:ea typeface="Calibri"/>
                <a:cs typeface="Times New Roman"/>
              </a:rPr>
              <a:t> TÉCNICO – LCAC E RAC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9" name="Retângulo de cantos arredondados 8"/>
          <p:cNvSpPr/>
          <p:nvPr userDrawn="1"/>
        </p:nvSpPr>
        <p:spPr>
          <a:xfrm>
            <a:off x="4457700" y="382270"/>
            <a:ext cx="2400300" cy="285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100" dirty="0" smtClean="0">
                <a:effectLst/>
                <a:ea typeface="Calibri"/>
                <a:cs typeface="Times New Roman"/>
              </a:rPr>
              <a:t>RT-NWS.E.04-REV.01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pic>
        <p:nvPicPr>
          <p:cNvPr id="10" name="Imagem 9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695" y="8672639"/>
            <a:ext cx="2059305" cy="483235"/>
          </a:xfrm>
          <a:prstGeom prst="rect">
            <a:avLst/>
          </a:prstGeom>
        </p:spPr>
      </p:pic>
      <p:sp>
        <p:nvSpPr>
          <p:cNvPr id="11" name="Caixa de texto 40"/>
          <p:cNvSpPr txBox="1">
            <a:spLocks noChangeArrowheads="1"/>
          </p:cNvSpPr>
          <p:nvPr userDrawn="1"/>
        </p:nvSpPr>
        <p:spPr bwMode="auto">
          <a:xfrm>
            <a:off x="-1" y="8949881"/>
            <a:ext cx="6181125" cy="194119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2860040" algn="ctr"/>
                <a:tab pos="6566535" algn="r"/>
              </a:tabLst>
            </a:pPr>
            <a:r>
              <a:rPr lang="pt-BR" sz="600" i="1" kern="1200">
                <a:solidFill>
                  <a:srgbClr val="808080"/>
                </a:solidFill>
                <a:effectLst/>
                <a:latin typeface="Arial"/>
                <a:ea typeface="Calibri"/>
                <a:cs typeface="Times New Roman"/>
              </a:rPr>
              <a:t>Av. Dr. Chucri Zaidan, 940 - 3º Andar - Vila Cordeiro - São Paulo – SP – CEP: 04583-110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Caixa de texto 43"/>
          <p:cNvSpPr txBox="1"/>
          <p:nvPr userDrawn="1"/>
        </p:nvSpPr>
        <p:spPr>
          <a:xfrm>
            <a:off x="0" y="623661"/>
            <a:ext cx="4005064" cy="13144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700" b="1" i="1" dirty="0" smtClean="0">
                <a:effectLst/>
                <a:latin typeface="Arial"/>
                <a:ea typeface="Calibri"/>
                <a:cs typeface="Times New Roman"/>
              </a:rPr>
              <a:t>Este</a:t>
            </a:r>
            <a:r>
              <a:rPr lang="pt-BR" sz="700" b="1" i="1" baseline="0" dirty="0" smtClean="0">
                <a:effectLst/>
                <a:latin typeface="Arial"/>
                <a:ea typeface="Calibri"/>
                <a:cs typeface="Times New Roman"/>
              </a:rPr>
              <a:t> Relatório é valido a partir de </a:t>
            </a:r>
            <a:r>
              <a:rPr lang="pt-BR" sz="700" b="1" i="1" baseline="0" dirty="0" smtClean="0">
                <a:effectLst/>
                <a:latin typeface="Arial"/>
                <a:ea typeface="Calibri"/>
                <a:cs typeface="Times New Roman"/>
              </a:rPr>
              <a:t>01/10/2021 </a:t>
            </a:r>
            <a:r>
              <a:rPr lang="pt-BR" sz="700" b="1" i="1" baseline="0" dirty="0" smtClean="0">
                <a:effectLst/>
                <a:latin typeface="Arial"/>
                <a:ea typeface="Calibri"/>
                <a:cs typeface="Times New Roman"/>
              </a:rPr>
              <a:t>cancelando os anteriores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4" name="Caixa de texto 13"/>
          <p:cNvSpPr txBox="1"/>
          <p:nvPr userDrawn="1"/>
        </p:nvSpPr>
        <p:spPr>
          <a:xfrm>
            <a:off x="0" y="755104"/>
            <a:ext cx="3805555" cy="21336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700" b="1" i="1" dirty="0">
                <a:effectLst/>
                <a:latin typeface="Arial"/>
                <a:ea typeface="Calibri"/>
                <a:cs typeface="Times New Roman"/>
              </a:rPr>
              <a:t>Abrangência</a:t>
            </a:r>
            <a:r>
              <a:rPr lang="pt-BR" sz="700" i="1" dirty="0">
                <a:effectLst/>
                <a:latin typeface="Arial"/>
                <a:ea typeface="Calibri"/>
                <a:cs typeface="Times New Roman"/>
              </a:rPr>
              <a:t>: Rede </a:t>
            </a:r>
            <a:r>
              <a:rPr lang="pt-BR" sz="700" i="1" dirty="0" smtClean="0">
                <a:effectLst/>
                <a:latin typeface="Arial"/>
                <a:ea typeface="Calibri"/>
                <a:cs typeface="Times New Roman"/>
              </a:rPr>
              <a:t>Credenciada – Distribuidor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114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50" r:id="rId3"/>
    <p:sldLayoutId id="2147483651" r:id="rId4"/>
    <p:sldLayoutId id="2147483654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pic>
        <p:nvPicPr>
          <p:cNvPr id="7" name="Imagem 6"/>
          <p:cNvPicPr/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90800" cy="593090"/>
          </a:xfrm>
          <a:prstGeom prst="rect">
            <a:avLst/>
          </a:prstGeom>
        </p:spPr>
      </p:pic>
      <p:sp>
        <p:nvSpPr>
          <p:cNvPr id="8" name="Retângulo de cantos arredondados 7"/>
          <p:cNvSpPr/>
          <p:nvPr userDrawn="1"/>
        </p:nvSpPr>
        <p:spPr>
          <a:xfrm>
            <a:off x="4457700" y="10795"/>
            <a:ext cx="2400300" cy="285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100" dirty="0" smtClean="0">
                <a:effectLst/>
                <a:ea typeface="Calibri"/>
                <a:cs typeface="Times New Roman"/>
              </a:rPr>
              <a:t>RELATÓRIO</a:t>
            </a:r>
            <a:r>
              <a:rPr lang="pt-BR" sz="1100" baseline="0" dirty="0" smtClean="0">
                <a:effectLst/>
                <a:ea typeface="Calibri"/>
                <a:cs typeface="Times New Roman"/>
              </a:rPr>
              <a:t> TÉCNICO – LCAC E RAC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9" name="Retângulo de cantos arredondados 8"/>
          <p:cNvSpPr/>
          <p:nvPr userDrawn="1"/>
        </p:nvSpPr>
        <p:spPr>
          <a:xfrm>
            <a:off x="4457700" y="382270"/>
            <a:ext cx="2400300" cy="285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100" dirty="0" smtClean="0">
                <a:effectLst/>
                <a:ea typeface="Calibri"/>
                <a:cs typeface="Times New Roman"/>
              </a:rPr>
              <a:t>RT-NWS.E.03-REV.01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pic>
        <p:nvPicPr>
          <p:cNvPr id="10" name="Imagem 9"/>
          <p:cNvPicPr/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695" y="8672639"/>
            <a:ext cx="2059305" cy="483235"/>
          </a:xfrm>
          <a:prstGeom prst="rect">
            <a:avLst/>
          </a:prstGeom>
        </p:spPr>
      </p:pic>
      <p:sp>
        <p:nvSpPr>
          <p:cNvPr id="11" name="Caixa de texto 40"/>
          <p:cNvSpPr txBox="1">
            <a:spLocks noChangeArrowheads="1"/>
          </p:cNvSpPr>
          <p:nvPr userDrawn="1"/>
        </p:nvSpPr>
        <p:spPr bwMode="auto">
          <a:xfrm>
            <a:off x="-1" y="8949881"/>
            <a:ext cx="6181125" cy="194119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2860040" algn="ctr"/>
                <a:tab pos="6566535" algn="r"/>
              </a:tabLst>
            </a:pPr>
            <a:r>
              <a:rPr lang="pt-BR" sz="600" i="1" kern="1200" dirty="0">
                <a:solidFill>
                  <a:srgbClr val="808080"/>
                </a:solidFill>
                <a:effectLst/>
                <a:latin typeface="Arial"/>
                <a:ea typeface="Calibri"/>
                <a:cs typeface="Times New Roman"/>
              </a:rPr>
              <a:t>Av. Dr. Chucri Zaidan, 940 - 3º Andar - Vila Cordeiro - São Paulo – SP – CEP: 04583-110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Caixa de texto 43"/>
          <p:cNvSpPr txBox="1"/>
          <p:nvPr userDrawn="1"/>
        </p:nvSpPr>
        <p:spPr>
          <a:xfrm>
            <a:off x="0" y="623661"/>
            <a:ext cx="4005064" cy="13144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700" b="1" i="1" dirty="0" smtClean="0">
                <a:effectLst/>
                <a:latin typeface="Arial"/>
                <a:ea typeface="Calibri"/>
                <a:cs typeface="Times New Roman"/>
              </a:rPr>
              <a:t>Este</a:t>
            </a:r>
            <a:r>
              <a:rPr lang="pt-BR" sz="700" b="1" i="1" baseline="0" dirty="0" smtClean="0">
                <a:effectLst/>
                <a:latin typeface="Arial"/>
                <a:ea typeface="Calibri"/>
                <a:cs typeface="Times New Roman"/>
              </a:rPr>
              <a:t> Relatório é valido a partir de 05/07/2021 cancelando os anteriores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4" name="Caixa de texto 13"/>
          <p:cNvSpPr txBox="1"/>
          <p:nvPr userDrawn="1"/>
        </p:nvSpPr>
        <p:spPr>
          <a:xfrm>
            <a:off x="0" y="755104"/>
            <a:ext cx="3805555" cy="21336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700" b="1" i="1" dirty="0">
                <a:effectLst/>
                <a:latin typeface="Arial"/>
                <a:ea typeface="Calibri"/>
                <a:cs typeface="Times New Roman"/>
              </a:rPr>
              <a:t>Abrangência</a:t>
            </a:r>
            <a:r>
              <a:rPr lang="pt-BR" sz="700" i="1" dirty="0">
                <a:effectLst/>
                <a:latin typeface="Arial"/>
                <a:ea typeface="Calibri"/>
                <a:cs typeface="Times New Roman"/>
              </a:rPr>
              <a:t>: Rede </a:t>
            </a:r>
            <a:r>
              <a:rPr lang="pt-BR" sz="700" i="1" dirty="0" smtClean="0">
                <a:effectLst/>
                <a:latin typeface="Arial"/>
                <a:ea typeface="Calibri"/>
                <a:cs typeface="Times New Roman"/>
              </a:rPr>
              <a:t>Credenciada – Distribuidor</a:t>
            </a:r>
            <a:r>
              <a:rPr lang="pt-BR" sz="700" i="1" baseline="0" dirty="0" smtClean="0">
                <a:effectLst/>
                <a:latin typeface="Arial"/>
                <a:ea typeface="Calibri"/>
                <a:cs typeface="Times New Roman"/>
              </a:rPr>
              <a:t> / Revenda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707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133600"/>
            <a:ext cx="6172200" cy="6034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342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D26A4-2BCA-47CE-8249-4856479AAA98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343150" y="8475663"/>
            <a:ext cx="21717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914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DDC54-1274-46EC-ACA6-7EEA034933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4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033588" y="3000375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026940" y="3381772"/>
            <a:ext cx="1834108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033588" y="3779912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033588" y="4188145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2026940" y="4576763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026940" y="5220072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2026940" y="5599162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026940" y="6012160"/>
            <a:ext cx="2554188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134260" y="5993110"/>
            <a:ext cx="146309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2026940" y="6412458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2026940" y="6804248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581150" y="7452320"/>
            <a:ext cx="2063874" cy="4470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4581128" y="7458670"/>
            <a:ext cx="2016224" cy="4470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1581150" y="7969250"/>
            <a:ext cx="1559818" cy="3154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4586734" y="7969250"/>
            <a:ext cx="2010618" cy="3090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1581150" y="8356674"/>
            <a:ext cx="2063874" cy="3154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10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429000" y="1835696"/>
            <a:ext cx="3168352" cy="23762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356992" y="5148064"/>
            <a:ext cx="1296144" cy="12961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5085184" y="5148064"/>
            <a:ext cx="1296144" cy="12961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3933056" y="6444208"/>
            <a:ext cx="72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Insira aqui</a:t>
            </a:r>
            <a:endParaRPr lang="pt-BR" sz="10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5661248" y="6444208"/>
            <a:ext cx="72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Insira aqui</a:t>
            </a:r>
            <a:endParaRPr lang="pt-BR" sz="1000" dirty="0"/>
          </a:p>
        </p:txBody>
      </p:sp>
      <p:sp>
        <p:nvSpPr>
          <p:cNvPr id="13" name="Retângulo 12"/>
          <p:cNvSpPr/>
          <p:nvPr/>
        </p:nvSpPr>
        <p:spPr>
          <a:xfrm>
            <a:off x="3356992" y="6876256"/>
            <a:ext cx="1375353" cy="1584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973571" y="6864027"/>
            <a:ext cx="1375353" cy="1584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 aqui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75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60648" y="1606972"/>
            <a:ext cx="1944216" cy="3727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505596" y="1606972"/>
            <a:ext cx="4091756" cy="3727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60648" y="2327052"/>
            <a:ext cx="6336704" cy="8767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60648" y="3491880"/>
            <a:ext cx="6336704" cy="5040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08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49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60648" y="1619672"/>
            <a:ext cx="6336704" cy="4536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 aqui e ou vídeo do teste evidenciando o vazamento 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49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Amare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Amare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76</Words>
  <Application>Microsoft Office PowerPoint</Application>
  <PresentationFormat>Apresentação na tela 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Arial</vt:lpstr>
      <vt:lpstr>Calibri</vt:lpstr>
      <vt:lpstr>Shonar Bangla</vt:lpstr>
      <vt:lpstr>Times New Roman</vt:lpstr>
      <vt:lpstr>Verdana</vt:lpstr>
      <vt:lpstr>Tema do Office</vt:lpstr>
      <vt:lpstr>1_Tema do Office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avieira.souza</dc:creator>
  <cp:lastModifiedBy>lg nws/LGESP SAC BS AE SVC Part(lg.nws@lgepartner.com)</cp:lastModifiedBy>
  <cp:revision>65</cp:revision>
  <cp:lastPrinted>2019-09-28T17:27:36Z</cp:lastPrinted>
  <dcterms:created xsi:type="dcterms:W3CDTF">2019-09-28T11:59:37Z</dcterms:created>
  <dcterms:modified xsi:type="dcterms:W3CDTF">2021-07-05T21:43:20Z</dcterms:modified>
</cp:coreProperties>
</file>